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0000000000000000000"/>
      <p:regular r:id="rId18"/>
    </p:embeddedFont>
    <p:embeddedFont>
      <p:font typeface="Proxima Nova Bold" charset="1" panose="02000506030000020004"/>
      <p:regular r:id="rId19"/>
    </p:embeddedFont>
    <p:embeddedFont>
      <p:font typeface="Proxima Nova" charset="1" panose="02000506030000020004"/>
      <p:regular r:id="rId20"/>
    </p:embeddedFon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https://colab.research.google.com/drive/1_ohfA5glyt3fjs12JDfENpfPPwEzz_Hq?usp=sharing" TargetMode="External" Type="http://schemas.openxmlformats.org/officeDocument/2006/relationships/hyperlink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32.png" Type="http://schemas.openxmlformats.org/officeDocument/2006/relationships/image"/><Relationship Id="rId14" Target="../media/image33.svg" Type="http://schemas.openxmlformats.org/officeDocument/2006/relationships/image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document/d/13q1XKAqUZ8odPWnOWKXa9FeMVIzKT3dwcJ5-BL5Na1w/edit?tab=t.0#heading=h.5m7rlcapf2k9" TargetMode="External" Type="http://schemas.openxmlformats.org/officeDocument/2006/relationships/hyperlink"/><Relationship Id="rId11" Target="http://t.me/TVS_Sahayak_BOT" TargetMode="External" Type="http://schemas.openxmlformats.org/officeDocument/2006/relationships/hyperlink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41.jpe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https://docs.google.com/document/d/1f3BQkrUnBQ2N9bt6OIEWx_nJ7qYRX4NTvzU1eg_kMjE/edit?usp=sharing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58.png" Type="http://schemas.openxmlformats.org/officeDocument/2006/relationships/image"/><Relationship Id="rId13" Target="../media/image59.png" Type="http://schemas.openxmlformats.org/officeDocument/2006/relationships/image"/><Relationship Id="rId14" Target="../media/image60.png" Type="http://schemas.openxmlformats.org/officeDocument/2006/relationships/image"/><Relationship Id="rId15" Target="../media/image61.png" Type="http://schemas.openxmlformats.org/officeDocument/2006/relationships/image"/><Relationship Id="rId16" Target="../media/image62.png" Type="http://schemas.openxmlformats.org/officeDocument/2006/relationships/image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rive.google.com/file/d/1i5vDuKRtrtR60z9Iwwn8IIhgePD3fco1/view?usp=sharing" TargetMode="External" Type="http://schemas.openxmlformats.org/officeDocument/2006/relationships/hyperlink"/><Relationship Id="rId11" Target="https://drive.google.com/file/d/1WlRxz9--JzXoeR1et4RaeMStFkscK5jG/view?usp=sharing" TargetMode="External" Type="http://schemas.openxmlformats.org/officeDocument/2006/relationships/hyperlink"/><Relationship Id="rId12" Target="https://docs.google.com/document/d/13q1XKAqUZ8odPWnOWKXa9FeMVIzKT3dwcJ5-BL5Na1w/edit?usp=sharing" TargetMode="External" Type="http://schemas.openxmlformats.org/officeDocument/2006/relationships/hyperlink"/><Relationship Id="rId13" Target="https://docs.google.com/spreadsheets/d/17zc1bA0GGIWNJ2a8JZ1q5XeDmPozViwoOR82efMcybY/edit?usp=sharing" TargetMode="External" Type="http://schemas.openxmlformats.org/officeDocument/2006/relationships/hyperlink"/><Relationship Id="rId14" Target="https://drive.google.com/file/d/1ifhWdUw7wzjZ-DiVKVX3PqCmXi9fn14y/view?usp=sharing" TargetMode="External" Type="http://schemas.openxmlformats.org/officeDocument/2006/relationships/hyperlink"/><Relationship Id="rId15" Target="https://docs.google.com/spreadsheets/d/1TSr83Cuj7RvJLhtjiDf6iC_JqJC3fMDeJ5RxSEJq0I4/edit?usp=sharing" TargetMode="External" Type="http://schemas.openxmlformats.org/officeDocument/2006/relationships/hyperlink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63.png" Type="http://schemas.openxmlformats.org/officeDocument/2006/relationships/image"/><Relationship Id="rId5" Target="https://colab.research.google.com/drive/1_ohfA5glyt3fjs12JDfENpfPPwEzz_Hq?usp=sharing" TargetMode="External" Type="http://schemas.openxmlformats.org/officeDocument/2006/relationships/hyperlink"/><Relationship Id="rId6" Target="https://drive.google.com/file/d/1QrF41Z5U6qLU8wWlwX9vMvMDaj3HbhhA/view?usp=sharing" TargetMode="External" Type="http://schemas.openxmlformats.org/officeDocument/2006/relationships/hyperlink"/><Relationship Id="rId7" Target="https://colab.research.google.com/drive/1D1hFcoPUDatFTQv04SDvKtGLHq6fuJst?usp=sharing" TargetMode="External" Type="http://schemas.openxmlformats.org/officeDocument/2006/relationships/hyperlink"/><Relationship Id="rId8" Target="https://drive.google.com/file/d/1zNC4pgaVzHuuAP42GSggm-HLMnB0k_mp/view?usp=sharing" TargetMode="External" Type="http://schemas.openxmlformats.org/officeDocument/2006/relationships/hyperlink"/><Relationship Id="rId9" Target="https://colab.research.google.com/drive/1U8WJkHvwYCZyz_nIFXXyn9TDxDv5T9Kt?usp=sharing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-65980"/>
            <a:ext cx="18504716" cy="10418960"/>
            <a:chOff x="0" y="0"/>
            <a:chExt cx="24672954" cy="13891946"/>
          </a:xfrm>
        </p:grpSpPr>
        <p:sp>
          <p:nvSpPr>
            <p:cNvPr name="Freeform 5" id="5" descr="A close-up of a logo  AI-generated content may be incorrect."/>
            <p:cNvSpPr/>
            <p:nvPr/>
          </p:nvSpPr>
          <p:spPr>
            <a:xfrm flipH="false" flipV="false" rot="0">
              <a:off x="0" y="0"/>
              <a:ext cx="24672925" cy="13891895"/>
            </a:xfrm>
            <a:custGeom>
              <a:avLst/>
              <a:gdLst/>
              <a:ahLst/>
              <a:cxnLst/>
              <a:rect r="r" b="b" t="t" l="l"/>
              <a:pathLst>
                <a:path h="13891895" w="24672925">
                  <a:moveTo>
                    <a:pt x="0" y="0"/>
                  </a:moveTo>
                  <a:lnTo>
                    <a:pt x="24672925" y="0"/>
                  </a:lnTo>
                  <a:lnTo>
                    <a:pt x="24672925" y="13891895"/>
                  </a:lnTo>
                  <a:lnTo>
                    <a:pt x="0" y="13891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" t="0" r="-4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40703" y="5646436"/>
            <a:ext cx="8300084" cy="1037863"/>
            <a:chOff x="0" y="0"/>
            <a:chExt cx="11066778" cy="13838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66780" cy="1383792"/>
            </a:xfrm>
            <a:custGeom>
              <a:avLst/>
              <a:gdLst/>
              <a:ahLst/>
              <a:cxnLst/>
              <a:rect r="r" b="b" t="t" l="l"/>
              <a:pathLst>
                <a:path h="1383792" w="11066780">
                  <a:moveTo>
                    <a:pt x="0" y="230632"/>
                  </a:moveTo>
                  <a:cubicBezTo>
                    <a:pt x="0" y="103251"/>
                    <a:pt x="196596" y="0"/>
                    <a:pt x="439420" y="0"/>
                  </a:cubicBezTo>
                  <a:lnTo>
                    <a:pt x="10627360" y="0"/>
                  </a:lnTo>
                  <a:cubicBezTo>
                    <a:pt x="10869803" y="0"/>
                    <a:pt x="11066780" y="103251"/>
                    <a:pt x="11066780" y="230632"/>
                  </a:cubicBezTo>
                  <a:lnTo>
                    <a:pt x="11066780" y="1153033"/>
                  </a:lnTo>
                  <a:cubicBezTo>
                    <a:pt x="11066780" y="1280287"/>
                    <a:pt x="10870184" y="1383665"/>
                    <a:pt x="10627360" y="1383665"/>
                  </a:cubicBezTo>
                  <a:lnTo>
                    <a:pt x="439420" y="1383665"/>
                  </a:lnTo>
                  <a:cubicBezTo>
                    <a:pt x="196596" y="1383792"/>
                    <a:pt x="0" y="1280541"/>
                    <a:pt x="0" y="1153033"/>
                  </a:cubicBezTo>
                  <a:close/>
                </a:path>
              </a:pathLst>
            </a:custGeom>
            <a:solidFill>
              <a:srgbClr val="124977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922781" y="5636850"/>
            <a:ext cx="8335928" cy="1057036"/>
          </a:xfrm>
          <a:custGeom>
            <a:avLst/>
            <a:gdLst/>
            <a:ahLst/>
            <a:cxnLst/>
            <a:rect r="r" b="b" t="t" l="l"/>
            <a:pathLst>
              <a:path h="1057036" w="8335928">
                <a:moveTo>
                  <a:pt x="0" y="0"/>
                </a:moveTo>
                <a:lnTo>
                  <a:pt x="8335928" y="0"/>
                </a:lnTo>
                <a:lnTo>
                  <a:pt x="8335928" y="1057036"/>
                </a:lnTo>
                <a:lnTo>
                  <a:pt x="0" y="105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922781" y="5636850"/>
            <a:ext cx="8347842" cy="1063386"/>
            <a:chOff x="0" y="0"/>
            <a:chExt cx="11130456" cy="14178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30456" cy="1417848"/>
            </a:xfrm>
            <a:custGeom>
              <a:avLst/>
              <a:gdLst/>
              <a:ahLst/>
              <a:cxnLst/>
              <a:rect r="r" b="b" t="t" l="l"/>
              <a:pathLst>
                <a:path h="1417848" w="11130456">
                  <a:moveTo>
                    <a:pt x="0" y="0"/>
                  </a:moveTo>
                  <a:lnTo>
                    <a:pt x="11130456" y="0"/>
                  </a:lnTo>
                  <a:lnTo>
                    <a:pt x="11130456" y="1417848"/>
                  </a:lnTo>
                  <a:lnTo>
                    <a:pt x="0" y="1417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130456" cy="1417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 spc="-11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Sanskar Ughade - IIT Guwahati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60223" y="428258"/>
            <a:ext cx="884023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Analysis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03047" y="717235"/>
            <a:ext cx="1765142" cy="32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026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Link:</a:t>
            </a:r>
            <a:r>
              <a:rPr lang="en-US" sz="2026">
                <a:solidFill>
                  <a:srgbClr val="191824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026" u="sng">
                <a:solidFill>
                  <a:srgbClr val="38B6FF"/>
                </a:solidFill>
                <a:latin typeface="Proxima Nova"/>
                <a:ea typeface="Proxima Nova"/>
                <a:cs typeface="Proxima Nova"/>
                <a:sym typeface="Proxima Nova"/>
                <a:hlinkClick r:id="rId4" tooltip="https://colab.research.google.com/drive/1_ohfA5glyt3fjs12JDfENpfPPwEzz_Hq?usp=sharing"/>
              </a:rPr>
              <a:t>Colab</a:t>
            </a:r>
            <a:r>
              <a:rPr lang="en-US" sz="2026">
                <a:solidFill>
                  <a:srgbClr val="191824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40920" y="2416500"/>
            <a:ext cx="2306483" cy="880084"/>
            <a:chOff x="0" y="0"/>
            <a:chExt cx="1406209" cy="536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6209" cy="536567"/>
            </a:xfrm>
            <a:custGeom>
              <a:avLst/>
              <a:gdLst/>
              <a:ahLst/>
              <a:cxnLst/>
              <a:rect r="r" b="b" t="t" l="l"/>
              <a:pathLst>
                <a:path h="536567" w="1406209">
                  <a:moveTo>
                    <a:pt x="16783" y="0"/>
                  </a:moveTo>
                  <a:lnTo>
                    <a:pt x="1389426" y="0"/>
                  </a:lnTo>
                  <a:cubicBezTo>
                    <a:pt x="1393878" y="0"/>
                    <a:pt x="1398146" y="1768"/>
                    <a:pt x="1401294" y="4916"/>
                  </a:cubicBezTo>
                  <a:cubicBezTo>
                    <a:pt x="1404441" y="8063"/>
                    <a:pt x="1406209" y="12332"/>
                    <a:pt x="1406209" y="16783"/>
                  </a:cubicBezTo>
                  <a:lnTo>
                    <a:pt x="1406209" y="519784"/>
                  </a:lnTo>
                  <a:cubicBezTo>
                    <a:pt x="1406209" y="524235"/>
                    <a:pt x="1404441" y="528504"/>
                    <a:pt x="1401294" y="531651"/>
                  </a:cubicBezTo>
                  <a:cubicBezTo>
                    <a:pt x="1398146" y="534799"/>
                    <a:pt x="1393878" y="536567"/>
                    <a:pt x="1389426" y="536567"/>
                  </a:cubicBezTo>
                  <a:lnTo>
                    <a:pt x="16783" y="536567"/>
                  </a:lnTo>
                  <a:cubicBezTo>
                    <a:pt x="12332" y="536567"/>
                    <a:pt x="8063" y="534799"/>
                    <a:pt x="4916" y="531651"/>
                  </a:cubicBezTo>
                  <a:cubicBezTo>
                    <a:pt x="1768" y="528504"/>
                    <a:pt x="0" y="524235"/>
                    <a:pt x="0" y="519784"/>
                  </a:cubicBezTo>
                  <a:lnTo>
                    <a:pt x="0" y="16783"/>
                  </a:lnTo>
                  <a:cubicBezTo>
                    <a:pt x="0" y="12332"/>
                    <a:pt x="1768" y="8063"/>
                    <a:pt x="4916" y="4916"/>
                  </a:cubicBezTo>
                  <a:cubicBezTo>
                    <a:pt x="8063" y="1768"/>
                    <a:pt x="12332" y="0"/>
                    <a:pt x="16783" y="0"/>
                  </a:cubicBezTo>
                  <a:close/>
                </a:path>
              </a:pathLst>
            </a:custGeom>
            <a:solidFill>
              <a:srgbClr val="AAF0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06209" cy="574667"/>
            </a:xfrm>
            <a:prstGeom prst="rect">
              <a:avLst/>
            </a:prstGeom>
          </p:spPr>
          <p:txBody>
            <a:bodyPr anchor="ctr" rtlCol="false" tIns="48086" lIns="48086" bIns="48086" rIns="48086"/>
            <a:lstStyle/>
            <a:p>
              <a:pPr algn="ctr">
                <a:lnSpc>
                  <a:spcPts val="2400"/>
                </a:lnSpc>
              </a:pPr>
              <a:r>
                <a:rPr lang="en-US" sz="1714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Descriptive Analysis &amp;</a:t>
              </a:r>
            </a:p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1714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Visualization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920" y="4652919"/>
            <a:ext cx="2306483" cy="880084"/>
            <a:chOff x="0" y="0"/>
            <a:chExt cx="1406209" cy="5365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6209" cy="536567"/>
            </a:xfrm>
            <a:custGeom>
              <a:avLst/>
              <a:gdLst/>
              <a:ahLst/>
              <a:cxnLst/>
              <a:rect r="r" b="b" t="t" l="l"/>
              <a:pathLst>
                <a:path h="536567" w="1406209">
                  <a:moveTo>
                    <a:pt x="16783" y="0"/>
                  </a:moveTo>
                  <a:lnTo>
                    <a:pt x="1389426" y="0"/>
                  </a:lnTo>
                  <a:cubicBezTo>
                    <a:pt x="1393878" y="0"/>
                    <a:pt x="1398146" y="1768"/>
                    <a:pt x="1401294" y="4916"/>
                  </a:cubicBezTo>
                  <a:cubicBezTo>
                    <a:pt x="1404441" y="8063"/>
                    <a:pt x="1406209" y="12332"/>
                    <a:pt x="1406209" y="16783"/>
                  </a:cubicBezTo>
                  <a:lnTo>
                    <a:pt x="1406209" y="519784"/>
                  </a:lnTo>
                  <a:cubicBezTo>
                    <a:pt x="1406209" y="524235"/>
                    <a:pt x="1404441" y="528504"/>
                    <a:pt x="1401294" y="531651"/>
                  </a:cubicBezTo>
                  <a:cubicBezTo>
                    <a:pt x="1398146" y="534799"/>
                    <a:pt x="1393878" y="536567"/>
                    <a:pt x="1389426" y="536567"/>
                  </a:cubicBezTo>
                  <a:lnTo>
                    <a:pt x="16783" y="536567"/>
                  </a:lnTo>
                  <a:cubicBezTo>
                    <a:pt x="12332" y="536567"/>
                    <a:pt x="8063" y="534799"/>
                    <a:pt x="4916" y="531651"/>
                  </a:cubicBezTo>
                  <a:cubicBezTo>
                    <a:pt x="1768" y="528504"/>
                    <a:pt x="0" y="524235"/>
                    <a:pt x="0" y="519784"/>
                  </a:cubicBezTo>
                  <a:lnTo>
                    <a:pt x="0" y="16783"/>
                  </a:lnTo>
                  <a:cubicBezTo>
                    <a:pt x="0" y="12332"/>
                    <a:pt x="1768" y="8063"/>
                    <a:pt x="4916" y="4916"/>
                  </a:cubicBezTo>
                  <a:cubicBezTo>
                    <a:pt x="8063" y="1768"/>
                    <a:pt x="12332" y="0"/>
                    <a:pt x="16783" y="0"/>
                  </a:cubicBezTo>
                  <a:close/>
                </a:path>
              </a:pathLst>
            </a:custGeom>
            <a:solidFill>
              <a:srgbClr val="AAF0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06209" cy="574667"/>
            </a:xfrm>
            <a:prstGeom prst="rect">
              <a:avLst/>
            </a:prstGeom>
          </p:spPr>
          <p:txBody>
            <a:bodyPr anchor="ctr" rtlCol="false" tIns="48086" lIns="48086" bIns="48086" rIns="48086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1714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Correlation &amp; Target Analysis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920" y="3534709"/>
            <a:ext cx="2306483" cy="880084"/>
            <a:chOff x="0" y="0"/>
            <a:chExt cx="1406209" cy="5365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06209" cy="536567"/>
            </a:xfrm>
            <a:custGeom>
              <a:avLst/>
              <a:gdLst/>
              <a:ahLst/>
              <a:cxnLst/>
              <a:rect r="r" b="b" t="t" l="l"/>
              <a:pathLst>
                <a:path h="536567" w="1406209">
                  <a:moveTo>
                    <a:pt x="16783" y="0"/>
                  </a:moveTo>
                  <a:lnTo>
                    <a:pt x="1389426" y="0"/>
                  </a:lnTo>
                  <a:cubicBezTo>
                    <a:pt x="1393878" y="0"/>
                    <a:pt x="1398146" y="1768"/>
                    <a:pt x="1401294" y="4916"/>
                  </a:cubicBezTo>
                  <a:cubicBezTo>
                    <a:pt x="1404441" y="8063"/>
                    <a:pt x="1406209" y="12332"/>
                    <a:pt x="1406209" y="16783"/>
                  </a:cubicBezTo>
                  <a:lnTo>
                    <a:pt x="1406209" y="519784"/>
                  </a:lnTo>
                  <a:cubicBezTo>
                    <a:pt x="1406209" y="524235"/>
                    <a:pt x="1404441" y="528504"/>
                    <a:pt x="1401294" y="531651"/>
                  </a:cubicBezTo>
                  <a:cubicBezTo>
                    <a:pt x="1398146" y="534799"/>
                    <a:pt x="1393878" y="536567"/>
                    <a:pt x="1389426" y="536567"/>
                  </a:cubicBezTo>
                  <a:lnTo>
                    <a:pt x="16783" y="536567"/>
                  </a:lnTo>
                  <a:cubicBezTo>
                    <a:pt x="12332" y="536567"/>
                    <a:pt x="8063" y="534799"/>
                    <a:pt x="4916" y="531651"/>
                  </a:cubicBezTo>
                  <a:cubicBezTo>
                    <a:pt x="1768" y="528504"/>
                    <a:pt x="0" y="524235"/>
                    <a:pt x="0" y="519784"/>
                  </a:cubicBezTo>
                  <a:lnTo>
                    <a:pt x="0" y="16783"/>
                  </a:lnTo>
                  <a:cubicBezTo>
                    <a:pt x="0" y="12332"/>
                    <a:pt x="1768" y="8063"/>
                    <a:pt x="4916" y="4916"/>
                  </a:cubicBezTo>
                  <a:cubicBezTo>
                    <a:pt x="8063" y="1768"/>
                    <a:pt x="12332" y="0"/>
                    <a:pt x="16783" y="0"/>
                  </a:cubicBezTo>
                  <a:close/>
                </a:path>
              </a:pathLst>
            </a:custGeom>
            <a:solidFill>
              <a:srgbClr val="AAF0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06209" cy="574667"/>
            </a:xfrm>
            <a:prstGeom prst="rect">
              <a:avLst/>
            </a:prstGeom>
          </p:spPr>
          <p:txBody>
            <a:bodyPr anchor="ctr" rtlCol="false" tIns="48086" lIns="48086" bIns="48086" rIns="48086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1714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Categorical</a:t>
              </a:r>
              <a:r>
                <a:rPr lang="en-US" sz="1714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Analysis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920" y="5814243"/>
            <a:ext cx="2306483" cy="880084"/>
            <a:chOff x="0" y="0"/>
            <a:chExt cx="1406209" cy="5365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06209" cy="536567"/>
            </a:xfrm>
            <a:custGeom>
              <a:avLst/>
              <a:gdLst/>
              <a:ahLst/>
              <a:cxnLst/>
              <a:rect r="r" b="b" t="t" l="l"/>
              <a:pathLst>
                <a:path h="536567" w="1406209">
                  <a:moveTo>
                    <a:pt x="16783" y="0"/>
                  </a:moveTo>
                  <a:lnTo>
                    <a:pt x="1389426" y="0"/>
                  </a:lnTo>
                  <a:cubicBezTo>
                    <a:pt x="1393878" y="0"/>
                    <a:pt x="1398146" y="1768"/>
                    <a:pt x="1401294" y="4916"/>
                  </a:cubicBezTo>
                  <a:cubicBezTo>
                    <a:pt x="1404441" y="8063"/>
                    <a:pt x="1406209" y="12332"/>
                    <a:pt x="1406209" y="16783"/>
                  </a:cubicBezTo>
                  <a:lnTo>
                    <a:pt x="1406209" y="519784"/>
                  </a:lnTo>
                  <a:cubicBezTo>
                    <a:pt x="1406209" y="524235"/>
                    <a:pt x="1404441" y="528504"/>
                    <a:pt x="1401294" y="531651"/>
                  </a:cubicBezTo>
                  <a:cubicBezTo>
                    <a:pt x="1398146" y="534799"/>
                    <a:pt x="1393878" y="536567"/>
                    <a:pt x="1389426" y="536567"/>
                  </a:cubicBezTo>
                  <a:lnTo>
                    <a:pt x="16783" y="536567"/>
                  </a:lnTo>
                  <a:cubicBezTo>
                    <a:pt x="12332" y="536567"/>
                    <a:pt x="8063" y="534799"/>
                    <a:pt x="4916" y="531651"/>
                  </a:cubicBezTo>
                  <a:cubicBezTo>
                    <a:pt x="1768" y="528504"/>
                    <a:pt x="0" y="524235"/>
                    <a:pt x="0" y="519784"/>
                  </a:cubicBezTo>
                  <a:lnTo>
                    <a:pt x="0" y="16783"/>
                  </a:lnTo>
                  <a:cubicBezTo>
                    <a:pt x="0" y="12332"/>
                    <a:pt x="1768" y="8063"/>
                    <a:pt x="4916" y="4916"/>
                  </a:cubicBezTo>
                  <a:cubicBezTo>
                    <a:pt x="8063" y="1768"/>
                    <a:pt x="12332" y="0"/>
                    <a:pt x="16783" y="0"/>
                  </a:cubicBezTo>
                  <a:close/>
                </a:path>
              </a:pathLst>
            </a:custGeom>
            <a:solidFill>
              <a:srgbClr val="AAF0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06209" cy="574667"/>
            </a:xfrm>
            <a:prstGeom prst="rect">
              <a:avLst/>
            </a:prstGeom>
          </p:spPr>
          <p:txBody>
            <a:bodyPr anchor="ctr" rtlCol="false" tIns="48086" lIns="48086" bIns="48086" rIns="48086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1714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Insights for Modeling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920" y="1302180"/>
            <a:ext cx="2306483" cy="880084"/>
            <a:chOff x="0" y="0"/>
            <a:chExt cx="1406209" cy="5365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06209" cy="536567"/>
            </a:xfrm>
            <a:custGeom>
              <a:avLst/>
              <a:gdLst/>
              <a:ahLst/>
              <a:cxnLst/>
              <a:rect r="r" b="b" t="t" l="l"/>
              <a:pathLst>
                <a:path h="536567" w="1406209">
                  <a:moveTo>
                    <a:pt x="16783" y="0"/>
                  </a:moveTo>
                  <a:lnTo>
                    <a:pt x="1389426" y="0"/>
                  </a:lnTo>
                  <a:cubicBezTo>
                    <a:pt x="1393878" y="0"/>
                    <a:pt x="1398146" y="1768"/>
                    <a:pt x="1401294" y="4916"/>
                  </a:cubicBezTo>
                  <a:cubicBezTo>
                    <a:pt x="1404441" y="8063"/>
                    <a:pt x="1406209" y="12332"/>
                    <a:pt x="1406209" y="16783"/>
                  </a:cubicBezTo>
                  <a:lnTo>
                    <a:pt x="1406209" y="519784"/>
                  </a:lnTo>
                  <a:cubicBezTo>
                    <a:pt x="1406209" y="524235"/>
                    <a:pt x="1404441" y="528504"/>
                    <a:pt x="1401294" y="531651"/>
                  </a:cubicBezTo>
                  <a:cubicBezTo>
                    <a:pt x="1398146" y="534799"/>
                    <a:pt x="1393878" y="536567"/>
                    <a:pt x="1389426" y="536567"/>
                  </a:cubicBezTo>
                  <a:lnTo>
                    <a:pt x="16783" y="536567"/>
                  </a:lnTo>
                  <a:cubicBezTo>
                    <a:pt x="12332" y="536567"/>
                    <a:pt x="8063" y="534799"/>
                    <a:pt x="4916" y="531651"/>
                  </a:cubicBezTo>
                  <a:cubicBezTo>
                    <a:pt x="1768" y="528504"/>
                    <a:pt x="0" y="524235"/>
                    <a:pt x="0" y="519784"/>
                  </a:cubicBezTo>
                  <a:lnTo>
                    <a:pt x="0" y="16783"/>
                  </a:lnTo>
                  <a:cubicBezTo>
                    <a:pt x="0" y="12332"/>
                    <a:pt x="1768" y="8063"/>
                    <a:pt x="4916" y="4916"/>
                  </a:cubicBezTo>
                  <a:cubicBezTo>
                    <a:pt x="8063" y="1768"/>
                    <a:pt x="12332" y="0"/>
                    <a:pt x="16783" y="0"/>
                  </a:cubicBezTo>
                  <a:close/>
                </a:path>
              </a:pathLst>
            </a:custGeom>
            <a:solidFill>
              <a:srgbClr val="AAF0C7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06209" cy="574667"/>
            </a:xfrm>
            <a:prstGeom prst="rect">
              <a:avLst/>
            </a:prstGeom>
          </p:spPr>
          <p:txBody>
            <a:bodyPr anchor="ctr" rtlCol="false" tIns="48086" lIns="48086" bIns="48086" rIns="48086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1714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Data Assesment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0920" y="7037227"/>
            <a:ext cx="11240819" cy="2083797"/>
            <a:chOff x="0" y="0"/>
            <a:chExt cx="6853266" cy="12704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3266" cy="1270443"/>
            </a:xfrm>
            <a:custGeom>
              <a:avLst/>
              <a:gdLst/>
              <a:ahLst/>
              <a:cxnLst/>
              <a:rect r="r" b="b" t="t" l="l"/>
              <a:pathLst>
                <a:path h="1270443" w="6853266">
                  <a:moveTo>
                    <a:pt x="3444" y="0"/>
                  </a:moveTo>
                  <a:lnTo>
                    <a:pt x="6849822" y="0"/>
                  </a:lnTo>
                  <a:cubicBezTo>
                    <a:pt x="6851724" y="0"/>
                    <a:pt x="6853266" y="1542"/>
                    <a:pt x="6853266" y="3444"/>
                  </a:cubicBezTo>
                  <a:lnTo>
                    <a:pt x="6853266" y="1266999"/>
                  </a:lnTo>
                  <a:cubicBezTo>
                    <a:pt x="6853266" y="1268901"/>
                    <a:pt x="6851724" y="1270443"/>
                    <a:pt x="6849822" y="1270443"/>
                  </a:cubicBezTo>
                  <a:lnTo>
                    <a:pt x="3444" y="1270443"/>
                  </a:lnTo>
                  <a:cubicBezTo>
                    <a:pt x="2530" y="1270443"/>
                    <a:pt x="1654" y="1270080"/>
                    <a:pt x="1009" y="1269434"/>
                  </a:cubicBezTo>
                  <a:cubicBezTo>
                    <a:pt x="363" y="1268788"/>
                    <a:pt x="0" y="1267913"/>
                    <a:pt x="0" y="1266999"/>
                  </a:cubicBezTo>
                  <a:lnTo>
                    <a:pt x="0" y="3444"/>
                  </a:lnTo>
                  <a:cubicBezTo>
                    <a:pt x="0" y="1542"/>
                    <a:pt x="1542" y="0"/>
                    <a:pt x="34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24977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853266" cy="1308543"/>
            </a:xfrm>
            <a:prstGeom prst="rect">
              <a:avLst/>
            </a:prstGeom>
          </p:spPr>
          <p:txBody>
            <a:bodyPr anchor="ctr" rtlCol="false" tIns="48086" lIns="48086" bIns="48086" rIns="48086"/>
            <a:lstStyle/>
            <a:p>
              <a:pPr algn="ctr" marL="0" indent="0" lvl="0">
                <a:lnSpc>
                  <a:spcPts val="21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086766" y="1413610"/>
            <a:ext cx="376490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Assessed dataset shape </a:t>
            </a:r>
          </a:p>
          <a:p>
            <a:pPr algn="l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Identified NULL values</a:t>
            </a:r>
          </a:p>
          <a:p>
            <a:pPr algn="l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Data profiling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86766" y="2527930"/>
            <a:ext cx="401659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Calculated descriptive statistics </a:t>
            </a:r>
          </a:p>
          <a:p>
            <a:pPr algn="l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Understood </a:t>
            </a: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central tendency</a:t>
            </a:r>
          </a:p>
          <a:p>
            <a:pPr algn="l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Visualized the feature distributions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86585" y="3755677"/>
            <a:ext cx="461379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Analyz</a:t>
            </a: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ed the distribution  </a:t>
            </a:r>
          </a:p>
          <a:p>
            <a:pPr algn="just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Visualized the freqeuncy among categories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86585" y="4753436"/>
            <a:ext cx="401677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Created a correlation Heatmap</a:t>
            </a:r>
          </a:p>
          <a:p>
            <a:pPr algn="l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Analysed target distribution among categories (percentiles &amp; count) </a:t>
            </a:r>
          </a:p>
          <a:p>
            <a:pPr algn="l" marL="364793" indent="-182396" lvl="1">
              <a:lnSpc>
                <a:spcPts val="2027"/>
              </a:lnSpc>
              <a:buFont typeface="Arial"/>
              <a:buChar char="•"/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Categorical target distribution visualization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5574" y="7307600"/>
            <a:ext cx="1061151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Conclusion: 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target is strongly influenced by </a:t>
            </a:r>
            <a:r>
              <a:rPr lang="en-US" b="true" sz="2000">
                <a:solidFill>
                  <a:srgbClr val="0F8A4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complaints</a:t>
            </a: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, </a:t>
            </a:r>
            <a:r>
              <a:rPr lang="en-US" b="true" sz="2000">
                <a:solidFill>
                  <a:srgbClr val="0F8A4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delay days</a:t>
            </a: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, </a:t>
            </a: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and</a:t>
            </a: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2000">
                <a:solidFill>
                  <a:srgbClr val="0F8A4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missed payments</a:t>
            </a: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(positive correlation), while </a:t>
            </a:r>
            <a:r>
              <a:rPr lang="en-US" b="true" sz="2000">
                <a:solidFill>
                  <a:srgbClr val="BC273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age</a:t>
            </a: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lang="en-US" b="true" sz="2000">
                <a:solidFill>
                  <a:srgbClr val="BC273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income</a:t>
            </a: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show a strong negative correlation. 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These insights guide feature selection for predictive modeling.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794161" y="2182264"/>
            <a:ext cx="0" cy="234236"/>
          </a:xfrm>
          <a:prstGeom prst="line">
            <a:avLst/>
          </a:prstGeom>
          <a:ln cap="flat" w="28575">
            <a:solidFill>
              <a:srgbClr val="12497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1794161" y="3296584"/>
            <a:ext cx="0" cy="238125"/>
          </a:xfrm>
          <a:prstGeom prst="line">
            <a:avLst/>
          </a:prstGeom>
          <a:ln cap="flat" w="28575">
            <a:solidFill>
              <a:srgbClr val="12497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1794161" y="4414794"/>
            <a:ext cx="0" cy="238125"/>
          </a:xfrm>
          <a:prstGeom prst="line">
            <a:avLst/>
          </a:prstGeom>
          <a:ln cap="flat" w="28575">
            <a:solidFill>
              <a:srgbClr val="12497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>
            <a:off x="1794161" y="5533003"/>
            <a:ext cx="0" cy="281240"/>
          </a:xfrm>
          <a:prstGeom prst="line">
            <a:avLst/>
          </a:prstGeom>
          <a:ln cap="flat" w="28575">
            <a:solidFill>
              <a:srgbClr val="12497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8639911" y="257448"/>
            <a:ext cx="4696371" cy="4393579"/>
          </a:xfrm>
          <a:custGeom>
            <a:avLst/>
            <a:gdLst/>
            <a:ahLst/>
            <a:cxnLst/>
            <a:rect r="r" b="b" t="t" l="l"/>
            <a:pathLst>
              <a:path h="4393579" w="4696371">
                <a:moveTo>
                  <a:pt x="0" y="0"/>
                </a:moveTo>
                <a:lnTo>
                  <a:pt x="4696371" y="0"/>
                </a:lnTo>
                <a:lnTo>
                  <a:pt x="4696371" y="4393579"/>
                </a:lnTo>
                <a:lnTo>
                  <a:pt x="0" y="43935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65" t="0" r="0" b="-1363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533423" y="4753436"/>
            <a:ext cx="1454673" cy="2017047"/>
          </a:xfrm>
          <a:custGeom>
            <a:avLst/>
            <a:gdLst/>
            <a:ahLst/>
            <a:cxnLst/>
            <a:rect r="r" b="b" t="t" l="l"/>
            <a:pathLst>
              <a:path h="2017047" w="1454673">
                <a:moveTo>
                  <a:pt x="0" y="0"/>
                </a:moveTo>
                <a:lnTo>
                  <a:pt x="1454673" y="0"/>
                </a:lnTo>
                <a:lnTo>
                  <a:pt x="1454673" y="2017047"/>
                </a:lnTo>
                <a:lnTo>
                  <a:pt x="0" y="20170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667943" y="7409941"/>
            <a:ext cx="5217796" cy="2659256"/>
          </a:xfrm>
          <a:custGeom>
            <a:avLst/>
            <a:gdLst/>
            <a:ahLst/>
            <a:cxnLst/>
            <a:rect r="r" b="b" t="t" l="l"/>
            <a:pathLst>
              <a:path h="2659256" w="5217796">
                <a:moveTo>
                  <a:pt x="0" y="0"/>
                </a:moveTo>
                <a:lnTo>
                  <a:pt x="5217797" y="0"/>
                </a:lnTo>
                <a:lnTo>
                  <a:pt x="5217797" y="2659256"/>
                </a:lnTo>
                <a:lnTo>
                  <a:pt x="0" y="26592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5029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109672" y="4753436"/>
            <a:ext cx="2226610" cy="2017047"/>
          </a:xfrm>
          <a:custGeom>
            <a:avLst/>
            <a:gdLst/>
            <a:ahLst/>
            <a:cxnLst/>
            <a:rect r="r" b="b" t="t" l="l"/>
            <a:pathLst>
              <a:path h="2017047" w="2226610">
                <a:moveTo>
                  <a:pt x="0" y="0"/>
                </a:moveTo>
                <a:lnTo>
                  <a:pt x="2226610" y="0"/>
                </a:lnTo>
                <a:lnTo>
                  <a:pt x="2226610" y="2017047"/>
                </a:lnTo>
                <a:lnTo>
                  <a:pt x="0" y="20170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501140" y="4800729"/>
            <a:ext cx="4384599" cy="2466337"/>
          </a:xfrm>
          <a:custGeom>
            <a:avLst/>
            <a:gdLst/>
            <a:ahLst/>
            <a:cxnLst/>
            <a:rect r="r" b="b" t="t" l="l"/>
            <a:pathLst>
              <a:path h="2466337" w="4384599">
                <a:moveTo>
                  <a:pt x="0" y="0"/>
                </a:moveTo>
                <a:lnTo>
                  <a:pt x="4384600" y="0"/>
                </a:lnTo>
                <a:lnTo>
                  <a:pt x="4384600" y="2466337"/>
                </a:lnTo>
                <a:lnTo>
                  <a:pt x="0" y="24663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501140" y="2856542"/>
            <a:ext cx="4384599" cy="1802241"/>
          </a:xfrm>
          <a:custGeom>
            <a:avLst/>
            <a:gdLst/>
            <a:ahLst/>
            <a:cxnLst/>
            <a:rect r="r" b="b" t="t" l="l"/>
            <a:pathLst>
              <a:path h="1802241" w="4384599">
                <a:moveTo>
                  <a:pt x="0" y="0"/>
                </a:moveTo>
                <a:lnTo>
                  <a:pt x="4384600" y="0"/>
                </a:lnTo>
                <a:lnTo>
                  <a:pt x="4384600" y="1802241"/>
                </a:lnTo>
                <a:lnTo>
                  <a:pt x="0" y="180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32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597668" y="1043919"/>
            <a:ext cx="4288071" cy="1768829"/>
          </a:xfrm>
          <a:custGeom>
            <a:avLst/>
            <a:gdLst/>
            <a:ahLst/>
            <a:cxnLst/>
            <a:rect r="r" b="b" t="t" l="l"/>
            <a:pathLst>
              <a:path h="1768829" w="4288071">
                <a:moveTo>
                  <a:pt x="0" y="0"/>
                </a:moveTo>
                <a:lnTo>
                  <a:pt x="4288072" y="0"/>
                </a:lnTo>
                <a:lnTo>
                  <a:pt x="4288072" y="1768829"/>
                </a:lnTo>
                <a:lnTo>
                  <a:pt x="0" y="17688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87052" y="7649274"/>
            <a:ext cx="8088102" cy="2484645"/>
            <a:chOff x="0" y="0"/>
            <a:chExt cx="2716353" cy="8344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6353" cy="834428"/>
            </a:xfrm>
            <a:custGeom>
              <a:avLst/>
              <a:gdLst/>
              <a:ahLst/>
              <a:cxnLst/>
              <a:rect r="r" b="b" t="t" l="l"/>
              <a:pathLst>
                <a:path h="834428" w="2716353">
                  <a:moveTo>
                    <a:pt x="2716353" y="0"/>
                  </a:moveTo>
                  <a:lnTo>
                    <a:pt x="2716353" y="834428"/>
                  </a:lnTo>
                  <a:lnTo>
                    <a:pt x="0" y="8344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716353" cy="843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91835" y="1559305"/>
            <a:ext cx="7959140" cy="640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b="true" sz="195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</a:t>
            </a:r>
            <a:r>
              <a:rPr lang="en-US" b="true" sz="195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ne-hot encoded </a:t>
            </a: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categorical features into binary form.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Created new features (eg Debt-to-Income Ratio, Delinquency Rate)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Detected outliers with the </a:t>
            </a:r>
            <a:r>
              <a:rPr lang="en-US" b="true" sz="195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IQR technique</a:t>
            </a: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 Retained them to prevent dropping data. The chosen model could handle them.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Normalised the dataset using </a:t>
            </a:r>
            <a:r>
              <a:rPr lang="en-US" b="true" sz="195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Min-Max Scaler</a:t>
            </a: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(range - 0 to 1)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Split the data into training, validation and test sets.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Chose the </a:t>
            </a:r>
            <a:r>
              <a:rPr lang="en-US" b="true" sz="195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Random Forest model </a:t>
            </a: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and performed hyperparameter tuning using </a:t>
            </a:r>
            <a:r>
              <a:rPr lang="en-US" b="true" sz="195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5-fold cross-validation</a:t>
            </a: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with GridSearchCV.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Trained on full training set with optimal parameters.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Assessed the model performance on the validation and test sets.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Evaluated on validation and test sets using accuracy, precision, recall and </a:t>
            </a:r>
            <a:r>
              <a:rPr lang="en-US" b="true" sz="195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ROC-AUC</a:t>
            </a: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Benchmarked against</a:t>
            </a:r>
            <a:r>
              <a:rPr lang="en-US" b="true" sz="195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XGBoost</a:t>
            </a: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lang="en-US" b="true" sz="195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LightGBM</a:t>
            </a: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Fine-tuned tree threshold to improve metrics.</a:t>
            </a:r>
          </a:p>
          <a:p>
            <a:pPr algn="just" marL="421358" indent="-210679" lvl="1">
              <a:lnSpc>
                <a:spcPts val="3376"/>
              </a:lnSpc>
              <a:buFont typeface="Arial"/>
              <a:buChar char="•"/>
            </a:pP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Enhanced interpretability with </a:t>
            </a:r>
            <a:r>
              <a:rPr lang="en-US" b="true" sz="195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SHAP values</a:t>
            </a:r>
            <a:r>
              <a:rPr lang="en-US" sz="19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and dependence plots</a:t>
            </a:r>
          </a:p>
        </p:txBody>
      </p:sp>
      <p:sp>
        <p:nvSpPr>
          <p:cNvPr name="Freeform 10" id="10" descr="dotted circle grid"/>
          <p:cNvSpPr/>
          <p:nvPr/>
        </p:nvSpPr>
        <p:spPr>
          <a:xfrm flipH="false" flipV="false" rot="0">
            <a:off x="7367373" y="8825347"/>
            <a:ext cx="1776627" cy="2065845"/>
          </a:xfrm>
          <a:custGeom>
            <a:avLst/>
            <a:gdLst/>
            <a:ahLst/>
            <a:cxnLst/>
            <a:rect r="r" b="b" t="t" l="l"/>
            <a:pathLst>
              <a:path h="2065845" w="1776627">
                <a:moveTo>
                  <a:pt x="0" y="0"/>
                </a:moveTo>
                <a:lnTo>
                  <a:pt x="1776627" y="0"/>
                </a:lnTo>
                <a:lnTo>
                  <a:pt x="1776627" y="2065845"/>
                </a:lnTo>
                <a:lnTo>
                  <a:pt x="0" y="2065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8927390"/>
            <a:ext cx="3002860" cy="598932"/>
            <a:chOff x="0" y="0"/>
            <a:chExt cx="790877" cy="1577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0877" cy="157743"/>
            </a:xfrm>
            <a:custGeom>
              <a:avLst/>
              <a:gdLst/>
              <a:ahLst/>
              <a:cxnLst/>
              <a:rect r="r" b="b" t="t" l="l"/>
              <a:pathLst>
                <a:path h="157743" w="790877">
                  <a:moveTo>
                    <a:pt x="36095" y="0"/>
                  </a:moveTo>
                  <a:lnTo>
                    <a:pt x="754782" y="0"/>
                  </a:lnTo>
                  <a:cubicBezTo>
                    <a:pt x="774717" y="0"/>
                    <a:pt x="790877" y="16160"/>
                    <a:pt x="790877" y="36095"/>
                  </a:cubicBezTo>
                  <a:lnTo>
                    <a:pt x="790877" y="121649"/>
                  </a:lnTo>
                  <a:cubicBezTo>
                    <a:pt x="790877" y="131222"/>
                    <a:pt x="787074" y="140403"/>
                    <a:pt x="780305" y="147172"/>
                  </a:cubicBezTo>
                  <a:cubicBezTo>
                    <a:pt x="773536" y="153941"/>
                    <a:pt x="764355" y="157743"/>
                    <a:pt x="754782" y="157743"/>
                  </a:cubicBezTo>
                  <a:lnTo>
                    <a:pt x="36095" y="157743"/>
                  </a:lnTo>
                  <a:cubicBezTo>
                    <a:pt x="16160" y="157743"/>
                    <a:pt x="0" y="141583"/>
                    <a:pt x="0" y="121649"/>
                  </a:cubicBezTo>
                  <a:lnTo>
                    <a:pt x="0" y="36095"/>
                  </a:lnTo>
                  <a:cubicBezTo>
                    <a:pt x="0" y="26522"/>
                    <a:pt x="3803" y="17341"/>
                    <a:pt x="10572" y="10572"/>
                  </a:cubicBezTo>
                  <a:cubicBezTo>
                    <a:pt x="17341" y="3803"/>
                    <a:pt x="26522" y="0"/>
                    <a:pt x="36095" y="0"/>
                  </a:cubicBezTo>
                  <a:close/>
                </a:path>
              </a:pathLst>
            </a:custGeom>
            <a:solidFill>
              <a:srgbClr val="0F8A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90877" cy="18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  <a:r>
                <a:rPr lang="en-US" b="true" sz="1500">
                  <a:solidFill>
                    <a:srgbClr val="FDFEF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 </a:t>
              </a:r>
              <a:r>
                <a:rPr lang="en-US" b="true" sz="1500">
                  <a:solidFill>
                    <a:srgbClr val="FDFEF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High precision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2586" y="8927390"/>
            <a:ext cx="3063895" cy="598932"/>
            <a:chOff x="0" y="0"/>
            <a:chExt cx="806952" cy="157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6952" cy="157743"/>
            </a:xfrm>
            <a:custGeom>
              <a:avLst/>
              <a:gdLst/>
              <a:ahLst/>
              <a:cxnLst/>
              <a:rect r="r" b="b" t="t" l="l"/>
              <a:pathLst>
                <a:path h="157743" w="806952">
                  <a:moveTo>
                    <a:pt x="35376" y="0"/>
                  </a:moveTo>
                  <a:lnTo>
                    <a:pt x="771576" y="0"/>
                  </a:lnTo>
                  <a:cubicBezTo>
                    <a:pt x="791114" y="0"/>
                    <a:pt x="806952" y="15838"/>
                    <a:pt x="806952" y="35376"/>
                  </a:cubicBezTo>
                  <a:lnTo>
                    <a:pt x="806952" y="122368"/>
                  </a:lnTo>
                  <a:cubicBezTo>
                    <a:pt x="806952" y="141905"/>
                    <a:pt x="791114" y="157743"/>
                    <a:pt x="771576" y="157743"/>
                  </a:cubicBezTo>
                  <a:lnTo>
                    <a:pt x="35376" y="157743"/>
                  </a:lnTo>
                  <a:cubicBezTo>
                    <a:pt x="15838" y="157743"/>
                    <a:pt x="0" y="141905"/>
                    <a:pt x="0" y="122368"/>
                  </a:cubicBezTo>
                  <a:lnTo>
                    <a:pt x="0" y="35376"/>
                  </a:lnTo>
                  <a:cubicBezTo>
                    <a:pt x="0" y="15838"/>
                    <a:pt x="15838" y="0"/>
                    <a:pt x="35376" y="0"/>
                  </a:cubicBezTo>
                  <a:close/>
                </a:path>
              </a:pathLst>
            </a:custGeom>
            <a:solidFill>
              <a:srgbClr val="0F8A4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06952" cy="18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  <a:r>
                <a:rPr lang="en-US" b="true" sz="1500">
                  <a:solidFill>
                    <a:srgbClr val="FDFEF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 </a:t>
              </a:r>
              <a:r>
                <a:rPr lang="en-US" b="true" sz="1500">
                  <a:solidFill>
                    <a:srgbClr val="FDFEF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Low FN’s(High Recall)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601555" y="4182656"/>
            <a:ext cx="4321882" cy="3354861"/>
          </a:xfrm>
          <a:custGeom>
            <a:avLst/>
            <a:gdLst/>
            <a:ahLst/>
            <a:cxnLst/>
            <a:rect r="r" b="b" t="t" l="l"/>
            <a:pathLst>
              <a:path h="3354861" w="4321882">
                <a:moveTo>
                  <a:pt x="0" y="0"/>
                </a:moveTo>
                <a:lnTo>
                  <a:pt x="4321881" y="0"/>
                </a:lnTo>
                <a:lnTo>
                  <a:pt x="4321881" y="3354861"/>
                </a:lnTo>
                <a:lnTo>
                  <a:pt x="0" y="3354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91835" y="1482149"/>
            <a:ext cx="8323539" cy="6680275"/>
            <a:chOff x="0" y="0"/>
            <a:chExt cx="2583324" cy="20732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83324" cy="2073241"/>
            </a:xfrm>
            <a:custGeom>
              <a:avLst/>
              <a:gdLst/>
              <a:ahLst/>
              <a:cxnLst/>
              <a:rect r="r" b="b" t="t" l="l"/>
              <a:pathLst>
                <a:path h="2073241" w="2583324">
                  <a:moveTo>
                    <a:pt x="2583324" y="0"/>
                  </a:moveTo>
                  <a:lnTo>
                    <a:pt x="2583324" y="2073241"/>
                  </a:lnTo>
                  <a:lnTo>
                    <a:pt x="0" y="2073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24977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583324" cy="2082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491674" y="2391164"/>
            <a:ext cx="2538275" cy="1577180"/>
          </a:xfrm>
          <a:custGeom>
            <a:avLst/>
            <a:gdLst/>
            <a:ahLst/>
            <a:cxnLst/>
            <a:rect r="r" b="b" t="t" l="l"/>
            <a:pathLst>
              <a:path h="1577180" w="2538275">
                <a:moveTo>
                  <a:pt x="0" y="0"/>
                </a:moveTo>
                <a:lnTo>
                  <a:pt x="2538275" y="0"/>
                </a:lnTo>
                <a:lnTo>
                  <a:pt x="2538275" y="1577180"/>
                </a:lnTo>
                <a:lnTo>
                  <a:pt x="0" y="15771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083414" y="2391164"/>
            <a:ext cx="2378288" cy="1577180"/>
          </a:xfrm>
          <a:custGeom>
            <a:avLst/>
            <a:gdLst/>
            <a:ahLst/>
            <a:cxnLst/>
            <a:rect r="r" b="b" t="t" l="l"/>
            <a:pathLst>
              <a:path h="1577180" w="2378288">
                <a:moveTo>
                  <a:pt x="0" y="0"/>
                </a:moveTo>
                <a:lnTo>
                  <a:pt x="2378288" y="0"/>
                </a:lnTo>
                <a:lnTo>
                  <a:pt x="2378288" y="1577180"/>
                </a:lnTo>
                <a:lnTo>
                  <a:pt x="0" y="15771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977549" y="4182656"/>
            <a:ext cx="4030468" cy="2414843"/>
          </a:xfrm>
          <a:custGeom>
            <a:avLst/>
            <a:gdLst/>
            <a:ahLst/>
            <a:cxnLst/>
            <a:rect r="r" b="b" t="t" l="l"/>
            <a:pathLst>
              <a:path h="2414843" w="4030468">
                <a:moveTo>
                  <a:pt x="0" y="0"/>
                </a:moveTo>
                <a:lnTo>
                  <a:pt x="4030467" y="0"/>
                </a:lnTo>
                <a:lnTo>
                  <a:pt x="4030467" y="2414844"/>
                </a:lnTo>
                <a:lnTo>
                  <a:pt x="0" y="24148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0784" t="-7971" r="-16413" b="-11446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639655" y="1172567"/>
            <a:ext cx="2644119" cy="2795777"/>
          </a:xfrm>
          <a:custGeom>
            <a:avLst/>
            <a:gdLst/>
            <a:ahLst/>
            <a:cxnLst/>
            <a:rect r="r" b="b" t="t" l="l"/>
            <a:pathLst>
              <a:path h="2795777" w="2644119">
                <a:moveTo>
                  <a:pt x="0" y="0"/>
                </a:moveTo>
                <a:lnTo>
                  <a:pt x="2644118" y="0"/>
                </a:lnTo>
                <a:lnTo>
                  <a:pt x="2644118" y="2795777"/>
                </a:lnTo>
                <a:lnTo>
                  <a:pt x="0" y="27957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459935" y="1600572"/>
            <a:ext cx="5001767" cy="368551"/>
          </a:xfrm>
          <a:custGeom>
            <a:avLst/>
            <a:gdLst/>
            <a:ahLst/>
            <a:cxnLst/>
            <a:rect r="r" b="b" t="t" l="l"/>
            <a:pathLst>
              <a:path h="368551" w="5001767">
                <a:moveTo>
                  <a:pt x="0" y="0"/>
                </a:moveTo>
                <a:lnTo>
                  <a:pt x="5001767" y="0"/>
                </a:lnTo>
                <a:lnTo>
                  <a:pt x="5001767" y="368551"/>
                </a:lnTo>
                <a:lnTo>
                  <a:pt x="0" y="368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459935" y="1218626"/>
            <a:ext cx="4925538" cy="312733"/>
          </a:xfrm>
          <a:custGeom>
            <a:avLst/>
            <a:gdLst/>
            <a:ahLst/>
            <a:cxnLst/>
            <a:rect r="r" b="b" t="t" l="l"/>
            <a:pathLst>
              <a:path h="312733" w="4925538">
                <a:moveTo>
                  <a:pt x="0" y="0"/>
                </a:moveTo>
                <a:lnTo>
                  <a:pt x="4925538" y="0"/>
                </a:lnTo>
                <a:lnTo>
                  <a:pt x="4925538" y="312733"/>
                </a:lnTo>
                <a:lnTo>
                  <a:pt x="0" y="3127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60223" y="603467"/>
            <a:ext cx="725110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Prediction Modeling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54211" y="8295774"/>
            <a:ext cx="3637699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24977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Metric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39655" y="8233376"/>
            <a:ext cx="7891748" cy="221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225" indent="-183612" lvl="1">
              <a:lnSpc>
                <a:spcPts val="2483"/>
              </a:lnSpc>
              <a:buAutoNum type="arabicPeriod" startAt="1"/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orrectly identify actual defaulters as Default (</a:t>
            </a:r>
            <a:r>
              <a:rPr lang="en-US" b="true" sz="1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True Positives</a:t>
            </a: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algn="l" marL="367225" indent="-183612" lvl="1">
              <a:lnSpc>
                <a:spcPts val="2483"/>
              </a:lnSpc>
              <a:buAutoNum type="arabicPeriod" startAt="1"/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</a:t>
            </a: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nimise cases where defaulters are predicted as Not Default (</a:t>
            </a:r>
            <a:r>
              <a:rPr lang="en-US" b="true" sz="1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False Negatives</a:t>
            </a: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), the riskiest scenario for the firm which means we in turn need to increase Recall</a:t>
            </a:r>
          </a:p>
          <a:p>
            <a:pPr algn="l" marL="367225" indent="-183612" lvl="1">
              <a:lnSpc>
                <a:spcPts val="2483"/>
              </a:lnSpc>
              <a:buAutoNum type="arabicPeriod" startAt="1"/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Prioritise </a:t>
            </a:r>
            <a:r>
              <a:rPr lang="en-US" b="true" sz="1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 precision</a:t>
            </a: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b="true" sz="1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 False Negatives</a:t>
            </a: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the confusion matrix</a:t>
            </a:r>
          </a:p>
          <a:p>
            <a:pPr algn="l">
              <a:lnSpc>
                <a:spcPts val="248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722416" y="7787783"/>
            <a:ext cx="7886063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0F8A42"/>
                </a:solidFill>
                <a:latin typeface="Poppins Bold"/>
                <a:ea typeface="Poppins Bold"/>
                <a:cs typeface="Poppins Bold"/>
                <a:sym typeface="Poppins Bold"/>
              </a:rPr>
              <a:t>The evaluation criteria is chosen for the following Business Goals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09454" y="1988733"/>
            <a:ext cx="1691372" cy="26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6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 set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070418" y="1988733"/>
            <a:ext cx="1844728" cy="26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6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 set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7892" y="9648833"/>
            <a:ext cx="127370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DFEFE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6412843"/>
            <a:ext cx="8725000" cy="2184867"/>
          </a:xfrm>
          <a:custGeom>
            <a:avLst/>
            <a:gdLst/>
            <a:ahLst/>
            <a:cxnLst/>
            <a:rect r="r" b="b" t="t" l="l"/>
            <a:pathLst>
              <a:path h="2184867" w="8725000">
                <a:moveTo>
                  <a:pt x="0" y="0"/>
                </a:moveTo>
                <a:lnTo>
                  <a:pt x="8725000" y="0"/>
                </a:lnTo>
                <a:lnTo>
                  <a:pt x="8725000" y="2184868"/>
                </a:lnTo>
                <a:lnTo>
                  <a:pt x="0" y="2184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9745" y="3199750"/>
            <a:ext cx="618289" cy="618289"/>
          </a:xfrm>
          <a:custGeom>
            <a:avLst/>
            <a:gdLst/>
            <a:ahLst/>
            <a:cxnLst/>
            <a:rect r="r" b="b" t="t" l="l"/>
            <a:pathLst>
              <a:path h="618289" w="618289">
                <a:moveTo>
                  <a:pt x="0" y="0"/>
                </a:moveTo>
                <a:lnTo>
                  <a:pt x="618289" y="0"/>
                </a:lnTo>
                <a:lnTo>
                  <a:pt x="618289" y="618290"/>
                </a:lnTo>
                <a:lnTo>
                  <a:pt x="0" y="618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34187" y="3199750"/>
            <a:ext cx="614337" cy="618289"/>
          </a:xfrm>
          <a:custGeom>
            <a:avLst/>
            <a:gdLst/>
            <a:ahLst/>
            <a:cxnLst/>
            <a:rect r="r" b="b" t="t" l="l"/>
            <a:pathLst>
              <a:path h="618289" w="614337">
                <a:moveTo>
                  <a:pt x="0" y="0"/>
                </a:moveTo>
                <a:lnTo>
                  <a:pt x="614337" y="0"/>
                </a:lnTo>
                <a:lnTo>
                  <a:pt x="614337" y="618290"/>
                </a:lnTo>
                <a:lnTo>
                  <a:pt x="0" y="6182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884677" y="1545499"/>
            <a:ext cx="1085547" cy="108554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FFA2">
                <a:alpha val="4588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84677" y="2952700"/>
            <a:ext cx="1085547" cy="108554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F60">
                <a:alpha val="4588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85238" y="4447822"/>
            <a:ext cx="1085547" cy="108554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6958">
                <a:alpha val="4588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82888" y="5180586"/>
            <a:ext cx="669202" cy="323530"/>
            <a:chOff x="0" y="0"/>
            <a:chExt cx="1140078" cy="5511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0078" cy="551178"/>
            </a:xfrm>
            <a:custGeom>
              <a:avLst/>
              <a:gdLst/>
              <a:ahLst/>
              <a:cxnLst/>
              <a:rect r="r" b="b" t="t" l="l"/>
              <a:pathLst>
                <a:path h="551178" w="1140078">
                  <a:moveTo>
                    <a:pt x="570039" y="0"/>
                  </a:moveTo>
                  <a:cubicBezTo>
                    <a:pt x="255215" y="0"/>
                    <a:pt x="0" y="123385"/>
                    <a:pt x="0" y="275589"/>
                  </a:cubicBezTo>
                  <a:cubicBezTo>
                    <a:pt x="0" y="427792"/>
                    <a:pt x="255215" y="551178"/>
                    <a:pt x="570039" y="551178"/>
                  </a:cubicBezTo>
                  <a:cubicBezTo>
                    <a:pt x="884863" y="551178"/>
                    <a:pt x="1140078" y="427792"/>
                    <a:pt x="1140078" y="275589"/>
                  </a:cubicBezTo>
                  <a:cubicBezTo>
                    <a:pt x="1140078" y="123385"/>
                    <a:pt x="884863" y="0"/>
                    <a:pt x="570039" y="0"/>
                  </a:cubicBezTo>
                  <a:close/>
                </a:path>
              </a:pathLst>
            </a:custGeom>
            <a:solidFill>
              <a:srgbClr val="FDECD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6882" y="51673"/>
              <a:ext cx="926314" cy="447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103932" y="3689873"/>
            <a:ext cx="648158" cy="323530"/>
            <a:chOff x="0" y="0"/>
            <a:chExt cx="1104226" cy="5511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4226" cy="551178"/>
            </a:xfrm>
            <a:custGeom>
              <a:avLst/>
              <a:gdLst/>
              <a:ahLst/>
              <a:cxnLst/>
              <a:rect r="r" b="b" t="t" l="l"/>
              <a:pathLst>
                <a:path h="551178" w="1104226">
                  <a:moveTo>
                    <a:pt x="552113" y="0"/>
                  </a:moveTo>
                  <a:cubicBezTo>
                    <a:pt x="247189" y="0"/>
                    <a:pt x="0" y="123385"/>
                    <a:pt x="0" y="275589"/>
                  </a:cubicBezTo>
                  <a:cubicBezTo>
                    <a:pt x="0" y="427792"/>
                    <a:pt x="247189" y="551178"/>
                    <a:pt x="552113" y="551178"/>
                  </a:cubicBezTo>
                  <a:cubicBezTo>
                    <a:pt x="857037" y="551178"/>
                    <a:pt x="1104226" y="427792"/>
                    <a:pt x="1104226" y="275589"/>
                  </a:cubicBezTo>
                  <a:cubicBezTo>
                    <a:pt x="1104226" y="123385"/>
                    <a:pt x="857037" y="0"/>
                    <a:pt x="552113" y="0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3521" y="51673"/>
              <a:ext cx="897184" cy="447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149416" y="2334219"/>
            <a:ext cx="527108" cy="283948"/>
            <a:chOff x="0" y="0"/>
            <a:chExt cx="898001" cy="4837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8001" cy="483745"/>
            </a:xfrm>
            <a:custGeom>
              <a:avLst/>
              <a:gdLst/>
              <a:ahLst/>
              <a:cxnLst/>
              <a:rect r="r" b="b" t="t" l="l"/>
              <a:pathLst>
                <a:path h="483745" w="898001">
                  <a:moveTo>
                    <a:pt x="449000" y="0"/>
                  </a:moveTo>
                  <a:cubicBezTo>
                    <a:pt x="201024" y="0"/>
                    <a:pt x="0" y="108290"/>
                    <a:pt x="0" y="241873"/>
                  </a:cubicBezTo>
                  <a:cubicBezTo>
                    <a:pt x="0" y="375455"/>
                    <a:pt x="201024" y="483745"/>
                    <a:pt x="449000" y="483745"/>
                  </a:cubicBezTo>
                  <a:cubicBezTo>
                    <a:pt x="696976" y="483745"/>
                    <a:pt x="898001" y="375455"/>
                    <a:pt x="898001" y="241873"/>
                  </a:cubicBezTo>
                  <a:cubicBezTo>
                    <a:pt x="898001" y="108290"/>
                    <a:pt x="696976" y="0"/>
                    <a:pt x="449000" y="0"/>
                  </a:cubicBezTo>
                  <a:close/>
                </a:path>
              </a:pathLst>
            </a:custGeom>
            <a:solidFill>
              <a:srgbClr val="964F4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84188" y="45351"/>
              <a:ext cx="729625" cy="393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4149416" y="1829791"/>
            <a:ext cx="550514" cy="646402"/>
          </a:xfrm>
          <a:custGeom>
            <a:avLst/>
            <a:gdLst/>
            <a:ahLst/>
            <a:cxnLst/>
            <a:rect r="r" b="b" t="t" l="l"/>
            <a:pathLst>
              <a:path h="646402" w="550514">
                <a:moveTo>
                  <a:pt x="0" y="0"/>
                </a:moveTo>
                <a:lnTo>
                  <a:pt x="550513" y="0"/>
                </a:lnTo>
                <a:lnTo>
                  <a:pt x="550513" y="646402"/>
                </a:lnTo>
                <a:lnTo>
                  <a:pt x="0" y="6464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1009" b="-881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103932" y="3151849"/>
            <a:ext cx="648158" cy="687249"/>
          </a:xfrm>
          <a:custGeom>
            <a:avLst/>
            <a:gdLst/>
            <a:ahLst/>
            <a:cxnLst/>
            <a:rect r="r" b="b" t="t" l="l"/>
            <a:pathLst>
              <a:path h="687249" w="648158">
                <a:moveTo>
                  <a:pt x="0" y="0"/>
                </a:moveTo>
                <a:lnTo>
                  <a:pt x="648158" y="0"/>
                </a:lnTo>
                <a:lnTo>
                  <a:pt x="648158" y="687249"/>
                </a:lnTo>
                <a:lnTo>
                  <a:pt x="0" y="6872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082888" y="4636032"/>
            <a:ext cx="669202" cy="716486"/>
          </a:xfrm>
          <a:custGeom>
            <a:avLst/>
            <a:gdLst/>
            <a:ahLst/>
            <a:cxnLst/>
            <a:rect r="r" b="b" t="t" l="l"/>
            <a:pathLst>
              <a:path h="716486" w="669202">
                <a:moveTo>
                  <a:pt x="0" y="0"/>
                </a:moveTo>
                <a:lnTo>
                  <a:pt x="669202" y="0"/>
                </a:lnTo>
                <a:lnTo>
                  <a:pt x="669202" y="716486"/>
                </a:lnTo>
                <a:lnTo>
                  <a:pt x="0" y="7164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144000" y="1529926"/>
            <a:ext cx="8622005" cy="395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62"/>
              </a:lnSpc>
              <a:buFont typeface="Arial"/>
              <a:buChar char="•"/>
            </a:pP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Assigned a</a:t>
            </a:r>
            <a:r>
              <a:rPr lang="en-US" b="true" sz="18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risk score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to each customer based on the predictive model.</a:t>
            </a:r>
          </a:p>
          <a:p>
            <a:pPr algn="l" marL="388620" indent="-194310" lvl="1">
              <a:lnSpc>
                <a:spcPts val="2862"/>
              </a:lnSpc>
              <a:buFont typeface="Arial"/>
              <a:buChar char="•"/>
            </a:pP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Built a</a:t>
            </a:r>
            <a:r>
              <a:rPr lang="en-US" b="true" sz="18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rule-based engine 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to generate personalised recommendations</a:t>
            </a:r>
          </a:p>
          <a:p>
            <a:pPr algn="l" marL="388620" indent="-194310" lvl="1">
              <a:lnSpc>
                <a:spcPts val="2862"/>
              </a:lnSpc>
              <a:buFont typeface="Arial"/>
              <a:buChar char="•"/>
            </a:pPr>
            <a:r>
              <a:rPr lang="en-US" b="true" sz="18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Classified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customers into three categories, based on risk scores</a:t>
            </a:r>
          </a:p>
          <a:p>
            <a:pPr algn="l" marL="777240" indent="-259080" lvl="2">
              <a:lnSpc>
                <a:spcPts val="2862"/>
              </a:lnSpc>
              <a:buFont typeface="Arial"/>
              <a:buChar char="⚬"/>
            </a:pP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Low Risk</a:t>
            </a:r>
          </a:p>
          <a:p>
            <a:pPr algn="l" marL="777240" indent="-259080" lvl="2">
              <a:lnSpc>
                <a:spcPts val="2862"/>
              </a:lnSpc>
              <a:buFont typeface="Arial"/>
              <a:buChar char="⚬"/>
            </a:pP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Mid Risk</a:t>
            </a:r>
          </a:p>
          <a:p>
            <a:pPr algn="l" marL="777240" indent="-259080" lvl="2">
              <a:lnSpc>
                <a:spcPts val="2862"/>
              </a:lnSpc>
              <a:buFont typeface="Arial"/>
              <a:buChar char="⚬"/>
            </a:pP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High Risk</a:t>
            </a:r>
          </a:p>
          <a:p>
            <a:pPr algn="l" marL="388620" indent="-194310" lvl="1">
              <a:lnSpc>
                <a:spcPts val="2862"/>
              </a:lnSpc>
              <a:buFont typeface="Arial"/>
              <a:buChar char="•"/>
            </a:pP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Defined </a:t>
            </a:r>
            <a:r>
              <a:rPr lang="en-US" b="true" sz="18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personas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to customers based on interaction history, complaints and other engagement signals</a:t>
            </a:r>
          </a:p>
          <a:p>
            <a:pPr algn="l" marL="388620" indent="-194310" lvl="1">
              <a:lnSpc>
                <a:spcPts val="2862"/>
              </a:lnSpc>
              <a:buFont typeface="Arial"/>
              <a:buChar char="•"/>
            </a:pP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Designed a </a:t>
            </a:r>
            <a:r>
              <a:rPr lang="en-US" b="true" sz="18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matrix to map strategies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for each risk persona combination</a:t>
            </a:r>
          </a:p>
          <a:p>
            <a:pPr algn="l" marL="388620" indent="-194310" lvl="1">
              <a:lnSpc>
                <a:spcPts val="2862"/>
              </a:lnSpc>
              <a:buFont typeface="Arial"/>
              <a:buChar char="•"/>
            </a:pP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Ran a script to generate sub-datasets based on customer behaviour and persona (e.g., aggressive customers, silent churners, loyal advocates etc.)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-75222" y="4086122"/>
            <a:ext cx="1528222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7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Customer </a:t>
            </a:r>
          </a:p>
          <a:p>
            <a:pPr algn="ctr">
              <a:lnSpc>
                <a:spcPts val="2210"/>
              </a:lnSpc>
            </a:pPr>
            <a:r>
              <a:rPr lang="en-US" sz="17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Database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21627" y="2440608"/>
            <a:ext cx="59428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Standard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778663" y="2891457"/>
            <a:ext cx="129757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7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Mid Risk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779224" y="4343047"/>
            <a:ext cx="129757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7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High Risk</a:t>
            </a:r>
          </a:p>
        </p:txBody>
      </p:sp>
      <p:sp>
        <p:nvSpPr>
          <p:cNvPr name="AutoShape 35" id="35"/>
          <p:cNvSpPr/>
          <p:nvPr/>
        </p:nvSpPr>
        <p:spPr>
          <a:xfrm>
            <a:off x="998034" y="3508895"/>
            <a:ext cx="1136153" cy="0"/>
          </a:xfrm>
          <a:prstGeom prst="line">
            <a:avLst/>
          </a:prstGeom>
          <a:ln cap="flat" w="19050">
            <a:solidFill>
              <a:srgbClr val="000000">
                <a:alpha val="41961"/>
              </a:srgbClr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2792779" y="3488763"/>
            <a:ext cx="1029980" cy="6711"/>
          </a:xfrm>
          <a:prstGeom prst="line">
            <a:avLst/>
          </a:prstGeom>
          <a:ln cap="flat" w="19050">
            <a:solidFill>
              <a:srgbClr val="000000">
                <a:alpha val="41961"/>
              </a:srgbClr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 flipV="true">
            <a:off x="2687084" y="1980901"/>
            <a:ext cx="1226143" cy="1218849"/>
          </a:xfrm>
          <a:prstGeom prst="line">
            <a:avLst/>
          </a:prstGeom>
          <a:ln cap="flat" w="19050">
            <a:solidFill>
              <a:srgbClr val="000000">
                <a:alpha val="41961"/>
              </a:srgbClr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>
            <a:off x="2645943" y="3765683"/>
            <a:ext cx="1191365" cy="1326532"/>
          </a:xfrm>
          <a:prstGeom prst="line">
            <a:avLst/>
          </a:prstGeom>
          <a:ln cap="flat" w="19050">
            <a:solidFill>
              <a:srgbClr val="000000">
                <a:alpha val="41961"/>
              </a:srgbClr>
            </a:solidFill>
            <a:prstDash val="sysDash"/>
            <a:headEnd type="none" len="sm" w="sm"/>
            <a:tailEnd type="arrow" len="sm" w="med"/>
          </a:ln>
        </p:spPr>
      </p:sp>
      <p:grpSp>
        <p:nvGrpSpPr>
          <p:cNvPr name="Group 39" id="39"/>
          <p:cNvGrpSpPr/>
          <p:nvPr/>
        </p:nvGrpSpPr>
        <p:grpSpPr>
          <a:xfrm rot="0">
            <a:off x="5265461" y="1816886"/>
            <a:ext cx="542773" cy="542773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FFA2">
                <a:alpha val="45882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222078" y="3118525"/>
            <a:ext cx="542773" cy="542773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F60">
                <a:alpha val="45882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222081" y="4621777"/>
            <a:ext cx="542773" cy="542773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6958">
                <a:alpha val="45882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935941" y="1816886"/>
            <a:ext cx="542773" cy="542773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FFA2">
                <a:alpha val="45882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892558" y="3118525"/>
            <a:ext cx="542773" cy="542773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F60">
                <a:alpha val="45882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892561" y="4621777"/>
            <a:ext cx="542773" cy="542773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6958">
                <a:alpha val="45882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606421" y="1816886"/>
            <a:ext cx="542773" cy="542773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FFA2">
                <a:alpha val="45882"/>
              </a:srgbClr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563038" y="3118525"/>
            <a:ext cx="542773" cy="542773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F60">
                <a:alpha val="45882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563040" y="4621777"/>
            <a:ext cx="542773" cy="542773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6958">
                <a:alpha val="45882"/>
              </a:srgbClr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276901" y="1816886"/>
            <a:ext cx="542773" cy="542773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FFA2">
                <a:alpha val="45882"/>
              </a:srgbClr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233518" y="3118525"/>
            <a:ext cx="542773" cy="542773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F60">
                <a:alpha val="45882"/>
              </a:srgbClr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233520" y="4621777"/>
            <a:ext cx="542773" cy="542773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6958">
                <a:alpha val="45882"/>
              </a:srgbClr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947381" y="1816886"/>
            <a:ext cx="542773" cy="542773"/>
            <a:chOff x="0" y="0"/>
            <a:chExt cx="812800" cy="812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FFA2">
                <a:alpha val="45882"/>
              </a:srgbClr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903997" y="3118525"/>
            <a:ext cx="542773" cy="542773"/>
            <a:chOff x="0" y="0"/>
            <a:chExt cx="812800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F60">
                <a:alpha val="45882"/>
              </a:srgbClr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904000" y="4621777"/>
            <a:ext cx="542773" cy="542773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6958">
                <a:alpha val="45882"/>
              </a:srgbClr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b="true" sz="1500" strike="noStrike" u="none">
                  <a:solidFill>
                    <a:srgbClr val="000000">
                      <a:alpha val="4588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</a:t>
              </a:r>
            </a:p>
          </p:txBody>
        </p:sp>
      </p:grpSp>
      <p:sp>
        <p:nvSpPr>
          <p:cNvPr name="AutoShape 84" id="84"/>
          <p:cNvSpPr/>
          <p:nvPr/>
        </p:nvSpPr>
        <p:spPr>
          <a:xfrm>
            <a:off x="4970223" y="2088273"/>
            <a:ext cx="295238" cy="0"/>
          </a:xfrm>
          <a:prstGeom prst="line">
            <a:avLst/>
          </a:prstGeom>
          <a:ln cap="flat" w="19050">
            <a:solidFill>
              <a:srgbClr val="000000">
                <a:alpha val="41961"/>
              </a:srgbClr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AutoShape 85" id="85"/>
          <p:cNvSpPr/>
          <p:nvPr/>
        </p:nvSpPr>
        <p:spPr>
          <a:xfrm>
            <a:off x="4970223" y="3416060"/>
            <a:ext cx="295238" cy="0"/>
          </a:xfrm>
          <a:prstGeom prst="line">
            <a:avLst/>
          </a:prstGeom>
          <a:ln cap="flat" w="19050">
            <a:solidFill>
              <a:srgbClr val="000000">
                <a:alpha val="41961"/>
              </a:srgbClr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AutoShape 86" id="86"/>
          <p:cNvSpPr/>
          <p:nvPr/>
        </p:nvSpPr>
        <p:spPr>
          <a:xfrm>
            <a:off x="4970223" y="4902689"/>
            <a:ext cx="295238" cy="0"/>
          </a:xfrm>
          <a:prstGeom prst="line">
            <a:avLst/>
          </a:prstGeom>
          <a:ln cap="flat" w="19050">
            <a:solidFill>
              <a:srgbClr val="000000">
                <a:alpha val="41961"/>
              </a:srgbClr>
            </a:solidFill>
            <a:prstDash val="sysDash"/>
            <a:headEnd type="none" len="sm" w="sm"/>
            <a:tailEnd type="arrow" len="sm" w="med"/>
          </a:ln>
        </p:spPr>
      </p:sp>
      <p:sp>
        <p:nvSpPr>
          <p:cNvPr name="TextBox 87" id="87"/>
          <p:cNvSpPr txBox="true"/>
          <p:nvPr/>
        </p:nvSpPr>
        <p:spPr>
          <a:xfrm rot="0">
            <a:off x="425162" y="128814"/>
            <a:ext cx="725110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Recommendation Engine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933594" y="5819118"/>
            <a:ext cx="4958973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0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Dynamic Thresholds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25162" y="5958818"/>
            <a:ext cx="2868001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Note -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41478" y="2518409"/>
            <a:ext cx="129757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7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Assigns Risk Score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779224" y="1434333"/>
            <a:ext cx="129757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7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Low RIsk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174354" y="2440608"/>
            <a:ext cx="681606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Aggressive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855961" y="2440608"/>
            <a:ext cx="726074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Cooperative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627393" y="2440608"/>
            <a:ext cx="500828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Evasive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7245584" y="2440608"/>
            <a:ext cx="605406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Confused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237499" y="6393793"/>
            <a:ext cx="8606786" cy="268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b="true" sz="18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 Encountered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- Hardcoded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the comparison thresholds, but the thresholds would only work on this dataset and not on any other dataset if there were variations in ranges. </a:t>
            </a:r>
          </a:p>
          <a:p>
            <a:pPr algn="l">
              <a:lnSpc>
                <a:spcPts val="1300"/>
              </a:lnSpc>
            </a:pP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b="true" sz="18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Solution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- Shifted to percentile-based thresholds 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for features with a lower bound and upper bound percentile values. This made the thresholds dynamic, which adjusted to the dataset, leading to more robust recommendations.</a:t>
            </a:r>
          </a:p>
          <a:p>
            <a:pPr algn="l">
              <a:lnSpc>
                <a:spcPts val="1300"/>
              </a:lnSpc>
            </a:pP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b="true" sz="18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Future Improvement 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- </a:t>
            </a:r>
            <a:r>
              <a:rPr lang="en-US" sz="18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In the future, the model can be trained to predict these thresholds automatically.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7895874" y="3737498"/>
            <a:ext cx="59428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Standard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148601" y="3737498"/>
            <a:ext cx="681606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Aggressive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5830207" y="3737498"/>
            <a:ext cx="726074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Cooperative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6601640" y="3737498"/>
            <a:ext cx="500828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Evasive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7219831" y="3737498"/>
            <a:ext cx="605406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Confused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7886349" y="5240750"/>
            <a:ext cx="594280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Standard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139076" y="5240750"/>
            <a:ext cx="681606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Aggressive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5820682" y="5240750"/>
            <a:ext cx="726074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Cooperative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6592115" y="5240750"/>
            <a:ext cx="500828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Evasive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210306" y="5240750"/>
            <a:ext cx="605406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Confused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379745" y="3631931"/>
            <a:ext cx="618289" cy="323530"/>
            <a:chOff x="0" y="0"/>
            <a:chExt cx="1053342" cy="55117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53342" cy="551178"/>
            </a:xfrm>
            <a:custGeom>
              <a:avLst/>
              <a:gdLst/>
              <a:ahLst/>
              <a:cxnLst/>
              <a:rect r="r" b="b" t="t" l="l"/>
              <a:pathLst>
                <a:path h="551178" w="1053342">
                  <a:moveTo>
                    <a:pt x="526671" y="0"/>
                  </a:moveTo>
                  <a:cubicBezTo>
                    <a:pt x="235799" y="0"/>
                    <a:pt x="0" y="123385"/>
                    <a:pt x="0" y="275589"/>
                  </a:cubicBezTo>
                  <a:cubicBezTo>
                    <a:pt x="0" y="427792"/>
                    <a:pt x="235799" y="551178"/>
                    <a:pt x="526671" y="551178"/>
                  </a:cubicBezTo>
                  <a:cubicBezTo>
                    <a:pt x="817543" y="551178"/>
                    <a:pt x="1053342" y="427792"/>
                    <a:pt x="1053342" y="275589"/>
                  </a:cubicBezTo>
                  <a:cubicBezTo>
                    <a:pt x="1053342" y="123385"/>
                    <a:pt x="817543" y="0"/>
                    <a:pt x="52667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98751" y="51673"/>
              <a:ext cx="855840" cy="447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74625" y="2694231"/>
            <a:ext cx="17161009" cy="6075943"/>
          </a:xfrm>
          <a:custGeom>
            <a:avLst/>
            <a:gdLst/>
            <a:ahLst/>
            <a:cxnLst/>
            <a:rect r="r" b="b" t="t" l="l"/>
            <a:pathLst>
              <a:path h="6075943" w="17161009">
                <a:moveTo>
                  <a:pt x="0" y="0"/>
                </a:moveTo>
                <a:lnTo>
                  <a:pt x="17161009" y="0"/>
                </a:lnTo>
                <a:lnTo>
                  <a:pt x="17161009" y="6075943"/>
                </a:lnTo>
                <a:lnTo>
                  <a:pt x="0" y="6075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98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74625" y="815345"/>
            <a:ext cx="14334474" cy="63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Recommendations we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re 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gn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d to leverage the chatbot for </a:t>
            </a:r>
            <a:r>
              <a:rPr lang="en-US" sz="1700" b="true">
                <a:solidFill>
                  <a:srgbClr val="124977"/>
                </a:solidFill>
                <a:latin typeface="Poppins Bold"/>
                <a:ea typeface="Poppins Bold"/>
                <a:cs typeface="Poppins Bold"/>
                <a:sym typeface="Poppins Bold"/>
              </a:rPr>
              <a:t>friendly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00" b="true">
                <a:solidFill>
                  <a:srgbClr val="124977"/>
                </a:solidFill>
                <a:latin typeface="Poppins Bold"/>
                <a:ea typeface="Poppins Bold"/>
                <a:cs typeface="Poppins Bold"/>
                <a:sym typeface="Poppins Bold"/>
              </a:rPr>
              <a:t>empathetic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 engagement with low-risk, cooperative customers, while </a:t>
            </a:r>
            <a:r>
              <a:rPr lang="en-US" sz="1700" b="true">
                <a:solidFill>
                  <a:srgbClr val="124977"/>
                </a:solidFill>
                <a:latin typeface="Poppins Bold"/>
                <a:ea typeface="Poppins Bold"/>
                <a:cs typeface="Poppins Bold"/>
                <a:sym typeface="Poppins Bold"/>
              </a:rPr>
              <a:t>escalating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 to human inte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rvention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 as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ri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 level</a:t>
            </a:r>
            <a:r>
              <a:rPr lang="en-US" sz="1700">
                <a:solidFill>
                  <a:srgbClr val="124977"/>
                </a:solidFill>
                <a:latin typeface="Poppins"/>
                <a:ea typeface="Poppins"/>
                <a:cs typeface="Poppins"/>
                <a:sym typeface="Poppins"/>
              </a:rPr>
              <a:t>s and customer aggression increases.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79853" y="2167538"/>
            <a:ext cx="4958973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Strategy Matrix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838856" y="2998323"/>
            <a:ext cx="5614274" cy="2585612"/>
            <a:chOff x="0" y="0"/>
            <a:chExt cx="3422893" cy="1576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2893" cy="1576388"/>
            </a:xfrm>
            <a:custGeom>
              <a:avLst/>
              <a:gdLst/>
              <a:ahLst/>
              <a:cxnLst/>
              <a:rect r="r" b="b" t="t" l="l"/>
              <a:pathLst>
                <a:path h="1576388" w="3422893">
                  <a:moveTo>
                    <a:pt x="6895" y="0"/>
                  </a:moveTo>
                  <a:lnTo>
                    <a:pt x="3415998" y="0"/>
                  </a:lnTo>
                  <a:cubicBezTo>
                    <a:pt x="3419806" y="0"/>
                    <a:pt x="3422893" y="3087"/>
                    <a:pt x="3422893" y="6895"/>
                  </a:cubicBezTo>
                  <a:lnTo>
                    <a:pt x="3422893" y="1569493"/>
                  </a:lnTo>
                  <a:cubicBezTo>
                    <a:pt x="3422893" y="1571322"/>
                    <a:pt x="3422166" y="1573075"/>
                    <a:pt x="3420873" y="1574368"/>
                  </a:cubicBezTo>
                  <a:cubicBezTo>
                    <a:pt x="3419580" y="1575661"/>
                    <a:pt x="3417826" y="1576388"/>
                    <a:pt x="3415998" y="1576388"/>
                  </a:cubicBezTo>
                  <a:lnTo>
                    <a:pt x="6895" y="1576388"/>
                  </a:lnTo>
                  <a:cubicBezTo>
                    <a:pt x="5066" y="1576388"/>
                    <a:pt x="3312" y="1575661"/>
                    <a:pt x="2019" y="1574368"/>
                  </a:cubicBezTo>
                  <a:cubicBezTo>
                    <a:pt x="726" y="1573075"/>
                    <a:pt x="0" y="1571322"/>
                    <a:pt x="0" y="1569493"/>
                  </a:cubicBezTo>
                  <a:lnTo>
                    <a:pt x="0" y="6895"/>
                  </a:lnTo>
                  <a:cubicBezTo>
                    <a:pt x="0" y="5066"/>
                    <a:pt x="726" y="3312"/>
                    <a:pt x="2019" y="2019"/>
                  </a:cubicBezTo>
                  <a:cubicBezTo>
                    <a:pt x="3312" y="726"/>
                    <a:pt x="5066" y="0"/>
                    <a:pt x="6895" y="0"/>
                  </a:cubicBezTo>
                  <a:close/>
                </a:path>
              </a:pathLst>
            </a:custGeom>
            <a:solidFill>
              <a:srgbClr val="FDFEF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22893" cy="1614488"/>
            </a:xfrm>
            <a:prstGeom prst="rect">
              <a:avLst/>
            </a:prstGeom>
          </p:spPr>
          <p:txBody>
            <a:bodyPr anchor="ctr" rtlCol="false" tIns="48086" lIns="48086" bIns="48086" rIns="48086"/>
            <a:lstStyle/>
            <a:p>
              <a:pPr algn="ctr" marL="0" indent="0" lvl="0">
                <a:lnSpc>
                  <a:spcPts val="21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770777" y="3009893"/>
            <a:ext cx="2645730" cy="2958217"/>
          </a:xfrm>
          <a:custGeom>
            <a:avLst/>
            <a:gdLst/>
            <a:ahLst/>
            <a:cxnLst/>
            <a:rect r="r" b="b" t="t" l="l"/>
            <a:pathLst>
              <a:path h="2958217" w="2645730">
                <a:moveTo>
                  <a:pt x="0" y="0"/>
                </a:moveTo>
                <a:lnTo>
                  <a:pt x="2645730" y="0"/>
                </a:lnTo>
                <a:lnTo>
                  <a:pt x="2645730" y="2958217"/>
                </a:lnTo>
                <a:lnTo>
                  <a:pt x="0" y="29582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960882" y="3312328"/>
            <a:ext cx="5678242" cy="1957601"/>
            <a:chOff x="0" y="0"/>
            <a:chExt cx="7570989" cy="26101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11321" y="721104"/>
              <a:ext cx="1042472" cy="1042472"/>
            </a:xfrm>
            <a:custGeom>
              <a:avLst/>
              <a:gdLst/>
              <a:ahLst/>
              <a:cxnLst/>
              <a:rect r="r" b="b" t="t" l="l"/>
              <a:pathLst>
                <a:path h="1042472" w="1042472">
                  <a:moveTo>
                    <a:pt x="0" y="0"/>
                  </a:moveTo>
                  <a:lnTo>
                    <a:pt x="1042472" y="0"/>
                  </a:lnTo>
                  <a:lnTo>
                    <a:pt x="1042472" y="1042472"/>
                  </a:lnTo>
                  <a:lnTo>
                    <a:pt x="0" y="1042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9050" cap="sq">
              <a:solidFill>
                <a:srgbClr val="FDFEFE"/>
              </a:solidFill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932609" y="776076"/>
              <a:ext cx="1176867" cy="1042472"/>
            </a:xfrm>
            <a:custGeom>
              <a:avLst/>
              <a:gdLst/>
              <a:ahLst/>
              <a:cxnLst/>
              <a:rect r="r" b="b" t="t" l="l"/>
              <a:pathLst>
                <a:path h="1042472" w="1176867">
                  <a:moveTo>
                    <a:pt x="0" y="0"/>
                  </a:moveTo>
                  <a:lnTo>
                    <a:pt x="1176868" y="0"/>
                  </a:lnTo>
                  <a:lnTo>
                    <a:pt x="1176868" y="1042471"/>
                  </a:lnTo>
                  <a:lnTo>
                    <a:pt x="0" y="1042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681" t="0" r="-8425" b="0"/>
              </a:stretch>
            </a:blipFill>
            <a:ln w="19050" cap="sq">
              <a:solidFill>
                <a:srgbClr val="FDFEFE"/>
              </a:solidFill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541899" y="834515"/>
              <a:ext cx="997378" cy="984032"/>
            </a:xfrm>
            <a:custGeom>
              <a:avLst/>
              <a:gdLst/>
              <a:ahLst/>
              <a:cxnLst/>
              <a:rect r="r" b="b" t="t" l="l"/>
              <a:pathLst>
                <a:path h="984032" w="997378">
                  <a:moveTo>
                    <a:pt x="0" y="0"/>
                  </a:moveTo>
                  <a:lnTo>
                    <a:pt x="997378" y="0"/>
                  </a:lnTo>
                  <a:lnTo>
                    <a:pt x="997378" y="984032"/>
                  </a:lnTo>
                  <a:lnTo>
                    <a:pt x="0" y="98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4109" t="-36119" r="-36654" b="-36960"/>
              </a:stretch>
            </a:blipFill>
            <a:ln w="19050" cap="sq">
              <a:solidFill>
                <a:srgbClr val="FDFEFE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1752010" y="-28575"/>
              <a:ext cx="3274164" cy="42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b="true" sz="2000">
                  <a:solidFill>
                    <a:srgbClr val="12497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Tech-Stack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092714" y="938447"/>
              <a:ext cx="400973" cy="738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1"/>
                </a:lnSpc>
              </a:pPr>
              <a:r>
                <a:rPr lang="en-US" sz="3462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+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625201" y="938447"/>
              <a:ext cx="400973" cy="738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1"/>
                </a:lnSpc>
              </a:pPr>
              <a:r>
                <a:rPr lang="en-US" sz="3462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+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041371"/>
              <a:ext cx="2265114" cy="568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8"/>
                </a:lnSpc>
              </a:pPr>
              <a:r>
                <a:rPr lang="en-US" sz="1298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n8n</a:t>
              </a:r>
            </a:p>
            <a:p>
              <a:pPr algn="ctr">
                <a:lnSpc>
                  <a:spcPts val="1688"/>
                </a:lnSpc>
              </a:pPr>
              <a:r>
                <a:rPr lang="en-US" sz="1298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Automation tool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349787" y="2041371"/>
              <a:ext cx="2394598" cy="568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8"/>
                </a:lnSpc>
              </a:pPr>
              <a:r>
                <a:rPr lang="en-US" sz="1298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Supabase</a:t>
              </a:r>
            </a:p>
            <a:p>
              <a:pPr algn="ctr">
                <a:lnSpc>
                  <a:spcPts val="1688"/>
                </a:lnSpc>
              </a:pPr>
              <a:r>
                <a:rPr lang="en-US" sz="1298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for Database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639954" y="2041371"/>
              <a:ext cx="2931034" cy="568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8"/>
                </a:lnSpc>
              </a:pPr>
              <a:r>
                <a:rPr lang="en-US" sz="1298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Telegram for</a:t>
              </a:r>
            </a:p>
            <a:p>
              <a:pPr algn="ctr">
                <a:lnSpc>
                  <a:spcPts val="1688"/>
                </a:lnSpc>
              </a:pPr>
              <a:r>
                <a:rPr lang="en-US" sz="1298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Chat integration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141035" y="6218921"/>
            <a:ext cx="15640842" cy="3440985"/>
          </a:xfrm>
          <a:custGeom>
            <a:avLst/>
            <a:gdLst/>
            <a:ahLst/>
            <a:cxnLst/>
            <a:rect r="r" b="b" t="t" l="l"/>
            <a:pathLst>
              <a:path h="3440985" w="15640842">
                <a:moveTo>
                  <a:pt x="0" y="0"/>
                </a:moveTo>
                <a:lnTo>
                  <a:pt x="15640843" y="0"/>
                </a:lnTo>
                <a:lnTo>
                  <a:pt x="15640843" y="3440985"/>
                </a:lnTo>
                <a:lnTo>
                  <a:pt x="0" y="34409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548161" y="1331636"/>
            <a:ext cx="2600692" cy="8200267"/>
          </a:xfrm>
          <a:custGeom>
            <a:avLst/>
            <a:gdLst/>
            <a:ahLst/>
            <a:cxnLst/>
            <a:rect r="r" b="b" t="t" l="l"/>
            <a:pathLst>
              <a:path h="8200267" w="2600692">
                <a:moveTo>
                  <a:pt x="0" y="0"/>
                </a:moveTo>
                <a:lnTo>
                  <a:pt x="2600691" y="0"/>
                </a:lnTo>
                <a:lnTo>
                  <a:pt x="2600691" y="8200267"/>
                </a:lnTo>
                <a:lnTo>
                  <a:pt x="0" y="8200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60223" y="560111"/>
            <a:ext cx="269333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ChatBot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3386" y="1691757"/>
            <a:ext cx="6019351" cy="226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021"/>
              </a:lnSpc>
              <a:buFont typeface="Arial"/>
              <a:buChar char="•"/>
            </a:pP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Name of the bot : </a:t>
            </a: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TVS Sahahyak</a:t>
            </a:r>
          </a:p>
          <a:p>
            <a:pPr algn="l" marL="410211" indent="-205106" lvl="1">
              <a:lnSpc>
                <a:spcPts val="3021"/>
              </a:lnSpc>
              <a:buFont typeface="Arial"/>
              <a:buChar char="•"/>
            </a:pP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Goal: To build a production-ready NBFC support chatbot that remembers users and fetches their financial data.</a:t>
            </a:r>
          </a:p>
          <a:p>
            <a:pPr algn="l" marL="410211" indent="-205106" lvl="1">
              <a:lnSpc>
                <a:spcPts val="3021"/>
              </a:lnSpc>
              <a:buFont typeface="Arial"/>
              <a:buChar char="•"/>
            </a:pP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Platform of Choice: Started with WhatsApp, switched to Telegram for faster setup.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38856" y="1196968"/>
            <a:ext cx="5800267" cy="18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</a:p>
          <a:p>
            <a:pPr algn="l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Customer Data</a:t>
            </a:r>
            <a:r>
              <a:rPr lang="en-US" sz="20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→ stores financial details.</a:t>
            </a:r>
          </a:p>
          <a:p>
            <a:pPr algn="l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Conversation Memories</a:t>
            </a:r>
            <a:r>
              <a:rPr lang="en-US" sz="20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→ remembers chat history &amp; key user info.</a:t>
            </a:r>
          </a:p>
          <a:p>
            <a:pPr algn="l">
              <a:lnSpc>
                <a:spcPts val="260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6242738" y="5641085"/>
            <a:ext cx="3723090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0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n8n workflow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0223" y="4088118"/>
            <a:ext cx="2637922" cy="58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b="true" sz="1784" u="sng">
                <a:solidFill>
                  <a:srgbClr val="124977"/>
                </a:solidFill>
                <a:latin typeface="Poppins Bold"/>
                <a:ea typeface="Poppins Bold"/>
                <a:cs typeface="Poppins Bold"/>
                <a:sym typeface="Poppins Bold"/>
                <a:hlinkClick r:id="rId10" tooltip="https://docs.google.com/document/d/13q1XKAqUZ8odPWnOWKXa9FeMVIzKT3dwcJ5-BL5Na1w/edit?tab=t.0#heading=h.5m7rlcapf2k9"/>
              </a:rPr>
              <a:t>Detailed Description </a:t>
            </a:r>
          </a:p>
          <a:p>
            <a:pPr algn="ctr">
              <a:lnSpc>
                <a:spcPts val="231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852574" y="763587"/>
            <a:ext cx="1946132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b="true" sz="2499" u="sng">
                <a:solidFill>
                  <a:srgbClr val="124977"/>
                </a:solidFill>
                <a:latin typeface="Poppins Bold"/>
                <a:ea typeface="Poppins Bold"/>
                <a:cs typeface="Poppins Bold"/>
                <a:sym typeface="Poppins Bold"/>
                <a:hlinkClick r:id="rId11" tooltip="http://t.me/TVS_Sahayak_BOT"/>
              </a:rPr>
              <a:t>Bot Link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04282" y="1012818"/>
            <a:ext cx="2455623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Database Design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6139" y="569635"/>
            <a:ext cx="12927090" cy="4282209"/>
            <a:chOff x="0" y="0"/>
            <a:chExt cx="3404630" cy="11277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04631" cy="1127773"/>
            </a:xfrm>
            <a:custGeom>
              <a:avLst/>
              <a:gdLst/>
              <a:ahLst/>
              <a:cxnLst/>
              <a:rect r="r" b="b" t="t" l="l"/>
              <a:pathLst>
                <a:path h="1127773" w="3404631">
                  <a:moveTo>
                    <a:pt x="3404631" y="0"/>
                  </a:moveTo>
                  <a:lnTo>
                    <a:pt x="3404631" y="1127773"/>
                  </a:lnTo>
                  <a:lnTo>
                    <a:pt x="0" y="1127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3404630" cy="1137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3364038" y="1106805"/>
            <a:ext cx="4328569" cy="8564817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37" r="0" b="-1337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739684" y="5389214"/>
            <a:ext cx="6356958" cy="3320784"/>
          </a:xfrm>
          <a:custGeom>
            <a:avLst/>
            <a:gdLst/>
            <a:ahLst/>
            <a:cxnLst/>
            <a:rect r="r" b="b" t="t" l="l"/>
            <a:pathLst>
              <a:path h="3320784" w="6356958">
                <a:moveTo>
                  <a:pt x="0" y="0"/>
                </a:moveTo>
                <a:lnTo>
                  <a:pt x="6356958" y="0"/>
                </a:lnTo>
                <a:lnTo>
                  <a:pt x="6356958" y="3320784"/>
                </a:lnTo>
                <a:lnTo>
                  <a:pt x="0" y="332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1532" r="0" b="-39896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76139" y="1304288"/>
            <a:ext cx="13247768" cy="3792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021"/>
              </a:lnSpc>
              <a:buAutoNum type="arabicPeriod" startAt="1"/>
            </a:pP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Context Aware Responses</a:t>
            </a: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-</a:t>
            </a: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Remembers past conversations to provide relevant answers without repeating questions.</a:t>
            </a:r>
          </a:p>
          <a:p>
            <a:pPr algn="l" marL="410211" indent="-205106" lvl="1">
              <a:lnSpc>
                <a:spcPts val="3021"/>
              </a:lnSpc>
              <a:buAutoNum type="arabicPeriod" startAt="1"/>
            </a:pP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Direct Financial Data Access</a:t>
            </a: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- Instantly fetches customer information for faster resolution.</a:t>
            </a:r>
          </a:p>
          <a:p>
            <a:pPr algn="l" marL="410211" indent="-205106" lvl="1">
              <a:lnSpc>
                <a:spcPts val="3021"/>
              </a:lnSpc>
              <a:buAutoNum type="arabicPeriod" startAt="1"/>
            </a:pP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Personalised Assistance</a:t>
            </a: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-</a:t>
            </a: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Tailors replies based on user profile and past interactions.</a:t>
            </a:r>
          </a:p>
          <a:p>
            <a:pPr algn="l" marL="410211" indent="-205106" lvl="1">
              <a:lnSpc>
                <a:spcPts val="3021"/>
              </a:lnSpc>
              <a:buAutoNum type="arabicPeriod" startAt="1"/>
            </a:pP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Seamless Onboarding</a:t>
            </a: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- Automatically identifies and saves new users without manual data entry.</a:t>
            </a:r>
          </a:p>
          <a:p>
            <a:pPr algn="l" marL="410211" indent="-205106" lvl="1">
              <a:lnSpc>
                <a:spcPts val="3021"/>
              </a:lnSpc>
              <a:buAutoNum type="arabicPeriod" startAt="1"/>
            </a:pP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Robust Identification System </a:t>
            </a: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- Uses unique chat ID for accurate, consistent user recognition.</a:t>
            </a:r>
          </a:p>
          <a:p>
            <a:pPr algn="l" marL="410211" indent="-205106" lvl="1">
              <a:lnSpc>
                <a:spcPts val="3021"/>
              </a:lnSpc>
              <a:buAutoNum type="arabicPeriod" startAt="1"/>
            </a:pP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Multi Case Handling</a:t>
            </a: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- Adapts to users with or without stored data and keeps workflow smooth.</a:t>
            </a:r>
          </a:p>
          <a:p>
            <a:pPr algn="l" marL="410211" indent="-205106" lvl="1">
              <a:lnSpc>
                <a:spcPts val="3021"/>
              </a:lnSpc>
              <a:buAutoNum type="arabicPeriod" startAt="1"/>
            </a:pP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Optimized Workflow</a:t>
            </a: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- Built to eliminate duplicate responses and handle edge cases efficiently.</a:t>
            </a:r>
          </a:p>
          <a:p>
            <a:pPr algn="l" marL="410211" indent="-205106" lvl="1">
              <a:lnSpc>
                <a:spcPts val="3021"/>
              </a:lnSpc>
              <a:buAutoNum type="arabicPeriod" startAt="1"/>
            </a:pPr>
            <a:r>
              <a:rPr lang="en-US" b="true" sz="1900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Send Email and SMS reminders</a:t>
            </a:r>
            <a:r>
              <a:rPr lang="en-US" sz="19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- automate personalized emails with dynamic fields, reliable delivery, and opt-out handling.</a:t>
            </a:r>
          </a:p>
          <a:p>
            <a:pPr algn="l">
              <a:lnSpc>
                <a:spcPts val="3021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484330" y="674370"/>
            <a:ext cx="10678262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Features &amp; USP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6139" y="4912995"/>
            <a:ext cx="10678262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Ensuring Data Privacy &amp; Security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39684" y="4917964"/>
            <a:ext cx="10678262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 Flow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652" y="5410705"/>
            <a:ext cx="6387332" cy="294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982"/>
              </a:lnSpc>
              <a:buFont typeface="Arial"/>
              <a:buChar char="•"/>
            </a:pPr>
            <a:r>
              <a:rPr lang="en-US" sz="189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Encrypt all data in transit (TLS 1.3) and at rest (AES-256)</a:t>
            </a:r>
          </a:p>
          <a:p>
            <a:pPr algn="l" marL="410209" indent="-205105" lvl="1">
              <a:lnSpc>
                <a:spcPts val="2982"/>
              </a:lnSpc>
              <a:buFont typeface="Arial"/>
              <a:buChar char="•"/>
            </a:pPr>
            <a:r>
              <a:rPr lang="en-US" sz="189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Mask or tokenise sensitive fields like account number &amp; personal information before model input</a:t>
            </a:r>
          </a:p>
          <a:p>
            <a:pPr algn="l" marL="410209" indent="-205105" lvl="1">
              <a:lnSpc>
                <a:spcPts val="2982"/>
              </a:lnSpc>
              <a:buFont typeface="Arial"/>
              <a:buChar char="•"/>
            </a:pPr>
            <a:r>
              <a:rPr lang="en-US" sz="189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Enforce RBAC (role-based access) &amp; strict access logging</a:t>
            </a:r>
          </a:p>
          <a:p>
            <a:pPr algn="l" marL="410209" indent="-205105" lvl="1">
              <a:lnSpc>
                <a:spcPts val="2982"/>
              </a:lnSpc>
              <a:buFont typeface="Arial"/>
              <a:buChar char="•"/>
            </a:pPr>
            <a:r>
              <a:rPr lang="en-US" sz="189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Keep PII (Personally Identifiable Information) within India to comply with DPDP Act 2023 &amp; RBI guidelines)</a:t>
            </a:r>
          </a:p>
          <a:p>
            <a:pPr algn="l">
              <a:lnSpc>
                <a:spcPts val="298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806" y="798849"/>
            <a:ext cx="11094644" cy="5002394"/>
            <a:chOff x="0" y="0"/>
            <a:chExt cx="2922016" cy="13174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2016" cy="1317443"/>
            </a:xfrm>
            <a:custGeom>
              <a:avLst/>
              <a:gdLst/>
              <a:ahLst/>
              <a:cxnLst/>
              <a:rect r="r" b="b" t="t" l="l"/>
              <a:pathLst>
                <a:path h="1317443" w="2922016">
                  <a:moveTo>
                    <a:pt x="2922016" y="0"/>
                  </a:moveTo>
                  <a:lnTo>
                    <a:pt x="2922016" y="1317443"/>
                  </a:lnTo>
                  <a:lnTo>
                    <a:pt x="0" y="1317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922016" cy="1326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5500" y="6188047"/>
            <a:ext cx="7735210" cy="2836545"/>
            <a:chOff x="0" y="0"/>
            <a:chExt cx="2048940" cy="751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8940" cy="751331"/>
            </a:xfrm>
            <a:custGeom>
              <a:avLst/>
              <a:gdLst/>
              <a:ahLst/>
              <a:cxnLst/>
              <a:rect r="r" b="b" t="t" l="l"/>
              <a:pathLst>
                <a:path h="751331" w="2048940">
                  <a:moveTo>
                    <a:pt x="2048940" y="0"/>
                  </a:moveTo>
                  <a:lnTo>
                    <a:pt x="2048940" y="751331"/>
                  </a:lnTo>
                  <a:lnTo>
                    <a:pt x="0" y="751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048940" cy="760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8365" y="1202710"/>
            <a:ext cx="2304580" cy="554654"/>
            <a:chOff x="0" y="0"/>
            <a:chExt cx="606967" cy="1460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6968" cy="146082"/>
            </a:xfrm>
            <a:custGeom>
              <a:avLst/>
              <a:gdLst/>
              <a:ahLst/>
              <a:cxnLst/>
              <a:rect r="r" b="b" t="t" l="l"/>
              <a:pathLst>
                <a:path h="146082" w="606968">
                  <a:moveTo>
                    <a:pt x="0" y="0"/>
                  </a:moveTo>
                  <a:lnTo>
                    <a:pt x="606968" y="0"/>
                  </a:lnTo>
                  <a:lnTo>
                    <a:pt x="606968" y="146082"/>
                  </a:lnTo>
                  <a:lnTo>
                    <a:pt x="0" y="146082"/>
                  </a:lnTo>
                  <a:close/>
                </a:path>
              </a:pathLst>
            </a:custGeom>
            <a:solidFill>
              <a:srgbClr val="AAF0C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06967" cy="14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Hosting Setup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54576" y="1202710"/>
            <a:ext cx="2877252" cy="554654"/>
            <a:chOff x="0" y="0"/>
            <a:chExt cx="757795" cy="1460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7795" cy="146082"/>
            </a:xfrm>
            <a:custGeom>
              <a:avLst/>
              <a:gdLst/>
              <a:ahLst/>
              <a:cxnLst/>
              <a:rect r="r" b="b" t="t" l="l"/>
              <a:pathLst>
                <a:path h="146082" w="757795">
                  <a:moveTo>
                    <a:pt x="0" y="0"/>
                  </a:moveTo>
                  <a:lnTo>
                    <a:pt x="757795" y="0"/>
                  </a:lnTo>
                  <a:lnTo>
                    <a:pt x="757795" y="146082"/>
                  </a:lnTo>
                  <a:lnTo>
                    <a:pt x="0" y="146082"/>
                  </a:lnTo>
                  <a:close/>
                </a:path>
              </a:pathLst>
            </a:custGeom>
            <a:solidFill>
              <a:srgbClr val="AAF0C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57795" cy="14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Production Database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2972945" y="1480037"/>
            <a:ext cx="1081631" cy="0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8309020" y="1120715"/>
            <a:ext cx="2304580" cy="718643"/>
            <a:chOff x="0" y="0"/>
            <a:chExt cx="606967" cy="189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6968" cy="189272"/>
            </a:xfrm>
            <a:custGeom>
              <a:avLst/>
              <a:gdLst/>
              <a:ahLst/>
              <a:cxnLst/>
              <a:rect r="r" b="b" t="t" l="l"/>
              <a:pathLst>
                <a:path h="189272" w="606968">
                  <a:moveTo>
                    <a:pt x="0" y="0"/>
                  </a:moveTo>
                  <a:lnTo>
                    <a:pt x="606968" y="0"/>
                  </a:lnTo>
                  <a:lnTo>
                    <a:pt x="606968" y="189272"/>
                  </a:lnTo>
                  <a:lnTo>
                    <a:pt x="0" y="189272"/>
                  </a:lnTo>
                  <a:close/>
                </a:path>
              </a:pathLst>
            </a:custGeom>
            <a:solidFill>
              <a:srgbClr val="AAF0C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06967" cy="189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Queue-based Execution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97576" y="843388"/>
            <a:ext cx="2304580" cy="554654"/>
            <a:chOff x="0" y="0"/>
            <a:chExt cx="606967" cy="1460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6968" cy="146082"/>
            </a:xfrm>
            <a:custGeom>
              <a:avLst/>
              <a:gdLst/>
              <a:ahLst/>
              <a:cxnLst/>
              <a:rect r="r" b="b" t="t" l="l"/>
              <a:pathLst>
                <a:path h="146082" w="606968">
                  <a:moveTo>
                    <a:pt x="0" y="0"/>
                  </a:moveTo>
                  <a:lnTo>
                    <a:pt x="606968" y="0"/>
                  </a:lnTo>
                  <a:lnTo>
                    <a:pt x="606968" y="146082"/>
                  </a:lnTo>
                  <a:lnTo>
                    <a:pt x="0" y="146082"/>
                  </a:lnTo>
                  <a:close/>
                </a:path>
              </a:pathLst>
            </a:custGeom>
            <a:solidFill>
              <a:srgbClr val="AAF0C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06967" cy="14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Variable Cost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6931828" y="1480037"/>
            <a:ext cx="1377192" cy="0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8427756" y="2992037"/>
            <a:ext cx="2304580" cy="554654"/>
            <a:chOff x="0" y="0"/>
            <a:chExt cx="606967" cy="1460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6968" cy="146082"/>
            </a:xfrm>
            <a:custGeom>
              <a:avLst/>
              <a:gdLst/>
              <a:ahLst/>
              <a:cxnLst/>
              <a:rect r="r" b="b" t="t" l="l"/>
              <a:pathLst>
                <a:path h="146082" w="606968">
                  <a:moveTo>
                    <a:pt x="0" y="0"/>
                  </a:moveTo>
                  <a:lnTo>
                    <a:pt x="606968" y="0"/>
                  </a:lnTo>
                  <a:lnTo>
                    <a:pt x="606968" y="146082"/>
                  </a:lnTo>
                  <a:lnTo>
                    <a:pt x="0" y="146082"/>
                  </a:lnTo>
                  <a:close/>
                </a:path>
              </a:pathLst>
            </a:custGeom>
            <a:solidFill>
              <a:srgbClr val="AAF0C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06967" cy="14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Horizontal Scaling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9580046" y="1839358"/>
            <a:ext cx="0" cy="1152679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8191615" y="4016048"/>
            <a:ext cx="2776861" cy="554654"/>
            <a:chOff x="0" y="0"/>
            <a:chExt cx="731354" cy="1460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354" cy="146082"/>
            </a:xfrm>
            <a:custGeom>
              <a:avLst/>
              <a:gdLst/>
              <a:ahLst/>
              <a:cxnLst/>
              <a:rect r="r" b="b" t="t" l="l"/>
              <a:pathLst>
                <a:path h="146082" w="731354">
                  <a:moveTo>
                    <a:pt x="0" y="0"/>
                  </a:moveTo>
                  <a:lnTo>
                    <a:pt x="731354" y="0"/>
                  </a:lnTo>
                  <a:lnTo>
                    <a:pt x="731354" y="146082"/>
                  </a:lnTo>
                  <a:lnTo>
                    <a:pt x="0" y="146082"/>
                  </a:lnTo>
                  <a:close/>
                </a:path>
              </a:pathLst>
            </a:custGeom>
            <a:solidFill>
              <a:srgbClr val="AAF0C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731354" cy="14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File &amp; Data Handling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9580046" y="3546691"/>
            <a:ext cx="0" cy="469357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0">
            <a:off x="4760101" y="4016048"/>
            <a:ext cx="2304580" cy="554654"/>
            <a:chOff x="0" y="0"/>
            <a:chExt cx="606967" cy="1460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6968" cy="146082"/>
            </a:xfrm>
            <a:custGeom>
              <a:avLst/>
              <a:gdLst/>
              <a:ahLst/>
              <a:cxnLst/>
              <a:rect r="r" b="b" t="t" l="l"/>
              <a:pathLst>
                <a:path h="146082" w="606968">
                  <a:moveTo>
                    <a:pt x="0" y="0"/>
                  </a:moveTo>
                  <a:lnTo>
                    <a:pt x="606968" y="0"/>
                  </a:lnTo>
                  <a:lnTo>
                    <a:pt x="606968" y="146082"/>
                  </a:lnTo>
                  <a:lnTo>
                    <a:pt x="0" y="146082"/>
                  </a:lnTo>
                  <a:close/>
                </a:path>
              </a:pathLst>
            </a:custGeom>
            <a:solidFill>
              <a:srgbClr val="AAF0C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06967" cy="14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Monitoring &amp; Alerts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flipH="true">
            <a:off x="7064681" y="4293375"/>
            <a:ext cx="1126935" cy="0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0">
            <a:off x="347035" y="4016048"/>
            <a:ext cx="2947241" cy="554654"/>
            <a:chOff x="0" y="0"/>
            <a:chExt cx="776228" cy="14608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76228" cy="146082"/>
            </a:xfrm>
            <a:custGeom>
              <a:avLst/>
              <a:gdLst/>
              <a:ahLst/>
              <a:cxnLst/>
              <a:rect r="r" b="b" t="t" l="l"/>
              <a:pathLst>
                <a:path h="146082" w="776228">
                  <a:moveTo>
                    <a:pt x="0" y="0"/>
                  </a:moveTo>
                  <a:lnTo>
                    <a:pt x="776228" y="0"/>
                  </a:lnTo>
                  <a:lnTo>
                    <a:pt x="776228" y="146082"/>
                  </a:lnTo>
                  <a:lnTo>
                    <a:pt x="0" y="146082"/>
                  </a:lnTo>
                  <a:close/>
                </a:path>
              </a:pathLst>
            </a:custGeom>
            <a:solidFill>
              <a:srgbClr val="AAF0C7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776228" cy="14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Reliability &amp; Security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flipH="true">
            <a:off x="3294276" y="4293375"/>
            <a:ext cx="1465825" cy="0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2" id="42"/>
          <p:cNvGrpSpPr/>
          <p:nvPr/>
        </p:nvGrpSpPr>
        <p:grpSpPr>
          <a:xfrm rot="0">
            <a:off x="9394694" y="5978590"/>
            <a:ext cx="5689503" cy="1002801"/>
            <a:chOff x="0" y="0"/>
            <a:chExt cx="7586003" cy="1337068"/>
          </a:xfrm>
        </p:grpSpPr>
        <p:sp>
          <p:nvSpPr>
            <p:cNvPr name="AutoShape 43" id="43"/>
            <p:cNvSpPr/>
            <p:nvPr/>
          </p:nvSpPr>
          <p:spPr>
            <a:xfrm>
              <a:off x="2062386" y="962710"/>
              <a:ext cx="1902281" cy="0"/>
            </a:xfrm>
            <a:prstGeom prst="line">
              <a:avLst/>
            </a:prstGeom>
            <a:ln cap="rnd" w="59897">
              <a:solidFill>
                <a:srgbClr val="ACB8C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44" id="44"/>
            <p:cNvSpPr txBox="true"/>
            <p:nvPr/>
          </p:nvSpPr>
          <p:spPr>
            <a:xfrm rot="0">
              <a:off x="2137497" y="1112454"/>
              <a:ext cx="5296698" cy="224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29"/>
                </a:lnSpc>
                <a:spcBef>
                  <a:spcPct val="0"/>
                </a:spcBef>
              </a:pPr>
              <a:r>
                <a:rPr lang="en-US" sz="1108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per 100 Cr portfolio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56860" y="760557"/>
              <a:ext cx="5296698" cy="224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29"/>
                </a:lnSpc>
                <a:spcBef>
                  <a:spcPct val="0"/>
                </a:spcBef>
              </a:pPr>
              <a:r>
                <a:rPr lang="en-US" sz="1108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leads to 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-9525"/>
              <a:ext cx="2756708" cy="1177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0"/>
                </a:lnSpc>
              </a:pPr>
            </a:p>
            <a:p>
              <a:pPr algn="ctr">
                <a:lnSpc>
                  <a:spcPts val="2320"/>
                </a:lnSpc>
                <a:spcBef>
                  <a:spcPct val="0"/>
                </a:spcBef>
              </a:pPr>
              <a:r>
                <a:rPr lang="en-US" b="true" sz="1933">
                  <a:solidFill>
                    <a:srgbClr val="12497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</a:t>
              </a:r>
              <a:r>
                <a:rPr lang="en-US" b="true" sz="1933">
                  <a:solidFill>
                    <a:srgbClr val="12497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efault Reduction</a:t>
              </a:r>
            </a:p>
            <a:p>
              <a:pPr algn="ctr">
                <a:lnSpc>
                  <a:spcPts val="2320"/>
                </a:lnSpc>
                <a:spcBef>
                  <a:spcPct val="0"/>
                </a:spcBef>
              </a:pP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289305" y="379807"/>
              <a:ext cx="5296698" cy="398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0"/>
                </a:lnSpc>
                <a:spcBef>
                  <a:spcPct val="0"/>
                </a:spcBef>
              </a:pPr>
              <a:r>
                <a:rPr lang="en-US" b="true" sz="1933">
                  <a:solidFill>
                    <a:srgbClr val="12497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Money Saved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59265" y="730609"/>
              <a:ext cx="1978232" cy="4642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44"/>
                </a:lnSpc>
                <a:spcBef>
                  <a:spcPct val="0"/>
                </a:spcBef>
              </a:pPr>
              <a:r>
                <a:rPr lang="en-US" b="true" sz="2287">
                  <a:solidFill>
                    <a:srgbClr val="12497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10-15%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3751839" y="730609"/>
              <a:ext cx="2052783" cy="4642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44"/>
                </a:lnSpc>
                <a:spcBef>
                  <a:spcPct val="0"/>
                </a:spcBef>
              </a:pPr>
              <a:r>
                <a:rPr lang="en-US" b="true" sz="2287">
                  <a:solidFill>
                    <a:srgbClr val="0F8A42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10-15 Cr 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94694" y="7057592"/>
            <a:ext cx="5685667" cy="771415"/>
            <a:chOff x="0" y="0"/>
            <a:chExt cx="7580889" cy="1028554"/>
          </a:xfrm>
        </p:grpSpPr>
        <p:sp>
          <p:nvSpPr>
            <p:cNvPr name="AutoShape 51" id="51"/>
            <p:cNvSpPr/>
            <p:nvPr/>
          </p:nvSpPr>
          <p:spPr>
            <a:xfrm>
              <a:off x="1903069" y="687141"/>
              <a:ext cx="1885728" cy="0"/>
            </a:xfrm>
            <a:prstGeom prst="line">
              <a:avLst/>
            </a:prstGeom>
            <a:ln cap="rnd" w="59376">
              <a:solidFill>
                <a:srgbClr val="ACB8C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52" id="52"/>
            <p:cNvSpPr txBox="true"/>
            <p:nvPr/>
          </p:nvSpPr>
          <p:spPr>
            <a:xfrm rot="0">
              <a:off x="2330280" y="805893"/>
              <a:ext cx="5250609" cy="222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18"/>
                </a:lnSpc>
                <a:spcBef>
                  <a:spcPct val="0"/>
                </a:spcBef>
              </a:pPr>
              <a:r>
                <a:rPr lang="en-US" sz="1098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annually in staffing cost 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54625" y="434793"/>
              <a:ext cx="5250609" cy="222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18"/>
                </a:lnSpc>
                <a:spcBef>
                  <a:spcPct val="0"/>
                </a:spcBef>
              </a:pPr>
              <a:r>
                <a:rPr lang="en-US" sz="1098">
                  <a:solidFill>
                    <a:srgbClr val="12497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leads to 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0" y="-9525"/>
              <a:ext cx="2732720" cy="395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0"/>
                </a:lnSpc>
                <a:spcBef>
                  <a:spcPct val="0"/>
                </a:spcBef>
              </a:pPr>
              <a:r>
                <a:rPr lang="en-US" b="true" sz="1916">
                  <a:solidFill>
                    <a:srgbClr val="12497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Queries Resolved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2269385" y="57273"/>
              <a:ext cx="5250609" cy="395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0"/>
                </a:lnSpc>
                <a:spcBef>
                  <a:spcPct val="0"/>
                </a:spcBef>
              </a:pPr>
              <a:r>
                <a:rPr lang="en-US" b="true" sz="1916">
                  <a:solidFill>
                    <a:srgbClr val="12497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Money Saved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57879" y="395580"/>
              <a:ext cx="1961018" cy="469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0"/>
                </a:lnSpc>
                <a:spcBef>
                  <a:spcPct val="0"/>
                </a:spcBef>
              </a:pPr>
              <a:r>
                <a:rPr lang="en-US" b="true" sz="2267">
                  <a:solidFill>
                    <a:srgbClr val="124977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70-80%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3719193" y="395580"/>
              <a:ext cx="2034921" cy="469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0"/>
                </a:lnSpc>
                <a:spcBef>
                  <a:spcPct val="0"/>
                </a:spcBef>
              </a:pPr>
              <a:r>
                <a:rPr lang="en-US" b="true" sz="2267">
                  <a:solidFill>
                    <a:srgbClr val="0F8A42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3-4 Cr 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308470" y="6180339"/>
            <a:ext cx="8434876" cy="2484963"/>
          </a:xfrm>
          <a:custGeom>
            <a:avLst/>
            <a:gdLst/>
            <a:ahLst/>
            <a:cxnLst/>
            <a:rect r="r" b="b" t="t" l="l"/>
            <a:pathLst>
              <a:path h="2484963" w="8434876">
                <a:moveTo>
                  <a:pt x="0" y="0"/>
                </a:moveTo>
                <a:lnTo>
                  <a:pt x="8434876" y="0"/>
                </a:lnTo>
                <a:lnTo>
                  <a:pt x="8434876" y="2484963"/>
                </a:lnTo>
                <a:lnTo>
                  <a:pt x="0" y="2484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1449951" y="1578341"/>
            <a:ext cx="5115305" cy="4061654"/>
          </a:xfrm>
          <a:custGeom>
            <a:avLst/>
            <a:gdLst/>
            <a:ahLst/>
            <a:cxnLst/>
            <a:rect r="r" b="b" t="t" l="l"/>
            <a:pathLst>
              <a:path h="4061654" w="5115305">
                <a:moveTo>
                  <a:pt x="0" y="0"/>
                </a:moveTo>
                <a:lnTo>
                  <a:pt x="5115305" y="0"/>
                </a:lnTo>
                <a:lnTo>
                  <a:pt x="5115305" y="4061654"/>
                </a:lnTo>
                <a:lnTo>
                  <a:pt x="0" y="4061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1497576" y="397847"/>
            <a:ext cx="3440145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Cost Benefit Analysis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47035" y="1932946"/>
            <a:ext cx="320711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eploy on Cloud VM (AWS/GCP/Azure) or n8n Cloud.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For advanced scaling → use Docker / Kubernetes for orchestration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3928593" y="1932946"/>
            <a:ext cx="300323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Switch</a:t>
            </a: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from SQLite → PostgreSQL for reliability &amp; performance.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760101" y="2908235"/>
            <a:ext cx="354891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Ad</a:t>
            </a: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d more workers as load increases.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Use Load Balancer for main servers (sticky sessions).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</a:p>
        </p:txBody>
      </p:sp>
      <p:sp>
        <p:nvSpPr>
          <p:cNvPr name="TextBox 64" id="64"/>
          <p:cNvSpPr txBox="true"/>
          <p:nvPr/>
        </p:nvSpPr>
        <p:spPr>
          <a:xfrm rot="0">
            <a:off x="7303303" y="2029022"/>
            <a:ext cx="221380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Us</a:t>
            </a: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e Redis + Worker processes to run many workflows in parallel.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203240" y="4627852"/>
            <a:ext cx="339606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etrics dashboard (Prometheus + Grafana).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Track queue size, errors, worker health.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347035" y="4627852"/>
            <a:ext cx="320711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ecure API keys &amp; credentials (encryption).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PgBouncer for DB stability under heavy load.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7787403" y="4627852"/>
            <a:ext cx="336917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Stor</a:t>
            </a: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e large files in Cloud Storage 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(e.g., S3).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Daily backups for database &amp; workflows.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</a:p>
        </p:txBody>
      </p:sp>
      <p:sp>
        <p:nvSpPr>
          <p:cNvPr name="TextBox 68" id="68"/>
          <p:cNvSpPr txBox="true"/>
          <p:nvPr/>
        </p:nvSpPr>
        <p:spPr>
          <a:xfrm rot="0">
            <a:off x="9039984" y="8210007"/>
            <a:ext cx="15736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  <a:spcBef>
                <a:spcPct val="0"/>
              </a:spcBef>
            </a:pPr>
            <a:r>
              <a:rPr lang="en-US" b="true" sz="1639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Customer Retention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743346" y="7905207"/>
            <a:ext cx="23168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  <a:spcBef>
                <a:spcPct val="0"/>
              </a:spcBef>
            </a:pPr>
            <a:r>
              <a:rPr lang="en-US" b="true" sz="1639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Scalability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459255" y="7914732"/>
            <a:ext cx="543331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Every additional 1,000 users adds &lt;₹2k infra + comms cost, but prevents ~₹20–25L in potential defaults.</a:t>
            </a:r>
          </a:p>
          <a:p>
            <a:pPr algn="l">
              <a:lnSpc>
                <a:spcPts val="1439"/>
              </a:lnSpc>
            </a:pPr>
          </a:p>
        </p:txBody>
      </p:sp>
      <p:sp>
        <p:nvSpPr>
          <p:cNvPr name="TextBox 71" id="71"/>
          <p:cNvSpPr txBox="true"/>
          <p:nvPr/>
        </p:nvSpPr>
        <p:spPr>
          <a:xfrm rot="0">
            <a:off x="10408836" y="7943307"/>
            <a:ext cx="7740016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Faster responses improve repayment rates by ~5–7%.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21498" y="366414"/>
            <a:ext cx="2598315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Scaling process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820655" y="419119"/>
            <a:ext cx="4958973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000" u="sng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  <a:hlinkClick r:id="rId6" tooltip="https://docs.google.com/document/d/1f3BQkrUnBQ2N9bt6OIEWx_nJ7qYRX4NTvzU1eg_kMjE/edit?usp=sharing"/>
              </a:rPr>
              <a:t>Scaling Guide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47035" y="5751802"/>
            <a:ext cx="5043763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ROI Under Different Scenarios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285500" y="5801243"/>
            <a:ext cx="5043763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Bussiness Value benefit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-9939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31533" y="569636"/>
            <a:ext cx="7866601" cy="3077808"/>
          </a:xfrm>
          <a:custGeom>
            <a:avLst/>
            <a:gdLst/>
            <a:ahLst/>
            <a:cxnLst/>
            <a:rect r="r" b="b" t="t" l="l"/>
            <a:pathLst>
              <a:path h="3077808" w="7866601">
                <a:moveTo>
                  <a:pt x="0" y="0"/>
                </a:moveTo>
                <a:lnTo>
                  <a:pt x="7866601" y="0"/>
                </a:lnTo>
                <a:lnTo>
                  <a:pt x="7866601" y="3077807"/>
                </a:lnTo>
                <a:lnTo>
                  <a:pt x="0" y="3077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77070" y="7856271"/>
            <a:ext cx="7313096" cy="2239636"/>
          </a:xfrm>
          <a:custGeom>
            <a:avLst/>
            <a:gdLst/>
            <a:ahLst/>
            <a:cxnLst/>
            <a:rect r="r" b="b" t="t" l="l"/>
            <a:pathLst>
              <a:path h="2239636" w="7313096">
                <a:moveTo>
                  <a:pt x="0" y="0"/>
                </a:moveTo>
                <a:lnTo>
                  <a:pt x="7313097" y="0"/>
                </a:lnTo>
                <a:lnTo>
                  <a:pt x="7313097" y="2239635"/>
                </a:lnTo>
                <a:lnTo>
                  <a:pt x="0" y="2239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22853" y="1033728"/>
            <a:ext cx="8140644" cy="2289556"/>
          </a:xfrm>
          <a:custGeom>
            <a:avLst/>
            <a:gdLst/>
            <a:ahLst/>
            <a:cxnLst/>
            <a:rect r="r" b="b" t="t" l="l"/>
            <a:pathLst>
              <a:path h="2289556" w="8140644">
                <a:moveTo>
                  <a:pt x="0" y="0"/>
                </a:moveTo>
                <a:lnTo>
                  <a:pt x="8140645" y="0"/>
                </a:lnTo>
                <a:lnTo>
                  <a:pt x="8140645" y="2289556"/>
                </a:lnTo>
                <a:lnTo>
                  <a:pt x="0" y="22895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1533" y="3830035"/>
            <a:ext cx="7860359" cy="2299155"/>
          </a:xfrm>
          <a:custGeom>
            <a:avLst/>
            <a:gdLst/>
            <a:ahLst/>
            <a:cxnLst/>
            <a:rect r="r" b="b" t="t" l="l"/>
            <a:pathLst>
              <a:path h="2299155" w="7860359">
                <a:moveTo>
                  <a:pt x="0" y="0"/>
                </a:moveTo>
                <a:lnTo>
                  <a:pt x="7860359" y="0"/>
                </a:lnTo>
                <a:lnTo>
                  <a:pt x="7860359" y="2299155"/>
                </a:lnTo>
                <a:lnTo>
                  <a:pt x="0" y="22991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48605" y="3518273"/>
            <a:ext cx="5031245" cy="1565975"/>
          </a:xfrm>
          <a:custGeom>
            <a:avLst/>
            <a:gdLst/>
            <a:ahLst/>
            <a:cxnLst/>
            <a:rect r="r" b="b" t="t" l="l"/>
            <a:pathLst>
              <a:path h="1565975" w="5031245">
                <a:moveTo>
                  <a:pt x="0" y="0"/>
                </a:moveTo>
                <a:lnTo>
                  <a:pt x="5031245" y="0"/>
                </a:lnTo>
                <a:lnTo>
                  <a:pt x="5031245" y="1565975"/>
                </a:lnTo>
                <a:lnTo>
                  <a:pt x="0" y="1565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51200" y="3518273"/>
            <a:ext cx="4025331" cy="1625227"/>
          </a:xfrm>
          <a:custGeom>
            <a:avLst/>
            <a:gdLst/>
            <a:ahLst/>
            <a:cxnLst/>
            <a:rect r="r" b="b" t="t" l="l"/>
            <a:pathLst>
              <a:path h="1625227" w="4025331">
                <a:moveTo>
                  <a:pt x="0" y="0"/>
                </a:moveTo>
                <a:lnTo>
                  <a:pt x="4025331" y="0"/>
                </a:lnTo>
                <a:lnTo>
                  <a:pt x="4025331" y="1625227"/>
                </a:lnTo>
                <a:lnTo>
                  <a:pt x="0" y="16252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90535" y="7856271"/>
            <a:ext cx="5034135" cy="2340873"/>
          </a:xfrm>
          <a:custGeom>
            <a:avLst/>
            <a:gdLst/>
            <a:ahLst/>
            <a:cxnLst/>
            <a:rect r="r" b="b" t="t" l="l"/>
            <a:pathLst>
              <a:path h="2340873" w="5034135">
                <a:moveTo>
                  <a:pt x="0" y="0"/>
                </a:moveTo>
                <a:lnTo>
                  <a:pt x="5034135" y="0"/>
                </a:lnTo>
                <a:lnTo>
                  <a:pt x="5034135" y="2340872"/>
                </a:lnTo>
                <a:lnTo>
                  <a:pt x="0" y="234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1533" y="6310165"/>
            <a:ext cx="5108719" cy="3556946"/>
          </a:xfrm>
          <a:custGeom>
            <a:avLst/>
            <a:gdLst/>
            <a:ahLst/>
            <a:cxnLst/>
            <a:rect r="r" b="b" t="t" l="l"/>
            <a:pathLst>
              <a:path h="3556946" w="5108719">
                <a:moveTo>
                  <a:pt x="0" y="0"/>
                </a:moveTo>
                <a:lnTo>
                  <a:pt x="5108719" y="0"/>
                </a:lnTo>
                <a:lnTo>
                  <a:pt x="5108719" y="3556946"/>
                </a:lnTo>
                <a:lnTo>
                  <a:pt x="0" y="35569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564553" y="1442068"/>
            <a:ext cx="1543050" cy="663942"/>
            <a:chOff x="0" y="0"/>
            <a:chExt cx="406400" cy="1748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174865"/>
            </a:xfrm>
            <a:custGeom>
              <a:avLst/>
              <a:gdLst/>
              <a:ahLst/>
              <a:cxnLst/>
              <a:rect r="r" b="b" t="t" l="l"/>
              <a:pathLst>
                <a:path h="174865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74865"/>
                  </a:lnTo>
                  <a:lnTo>
                    <a:pt x="0" y="174865"/>
                  </a:lnTo>
                  <a:close/>
                </a:path>
              </a:pathLst>
            </a:custGeom>
            <a:solidFill>
              <a:srgbClr val="FDFEF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06400" cy="17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  <a:r>
                <a:rPr lang="en-US" sz="1539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Frustrated</a:t>
              </a:r>
            </a:p>
            <a:p>
              <a:pPr algn="ctr">
                <a:lnSpc>
                  <a:spcPts val="1847"/>
                </a:lnSpc>
              </a:pPr>
              <a:r>
                <a:rPr lang="en-US" b="true" sz="153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Complaint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258087" y="7072073"/>
            <a:ext cx="12679290" cy="32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018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Bot-response in different situations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64553" y="4647642"/>
            <a:ext cx="1543050" cy="663942"/>
            <a:chOff x="0" y="0"/>
            <a:chExt cx="406400" cy="1748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174865"/>
            </a:xfrm>
            <a:custGeom>
              <a:avLst/>
              <a:gdLst/>
              <a:ahLst/>
              <a:cxnLst/>
              <a:rect r="r" b="b" t="t" l="l"/>
              <a:pathLst>
                <a:path h="174865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74865"/>
                  </a:lnTo>
                  <a:lnTo>
                    <a:pt x="0" y="174865"/>
                  </a:lnTo>
                  <a:close/>
                </a:path>
              </a:pathLst>
            </a:custGeom>
            <a:solidFill>
              <a:srgbClr val="FDFEF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06400" cy="17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  <a:r>
                <a:rPr lang="en-US" b="true" sz="153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Request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79746" y="6934187"/>
            <a:ext cx="1543050" cy="663942"/>
            <a:chOff x="0" y="0"/>
            <a:chExt cx="406400" cy="174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6400" cy="174865"/>
            </a:xfrm>
            <a:custGeom>
              <a:avLst/>
              <a:gdLst/>
              <a:ahLst/>
              <a:cxnLst/>
              <a:rect r="r" b="b" t="t" l="l"/>
              <a:pathLst>
                <a:path h="174865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74865"/>
                  </a:lnTo>
                  <a:lnTo>
                    <a:pt x="0" y="174865"/>
                  </a:lnTo>
                  <a:close/>
                </a:path>
              </a:pathLst>
            </a:custGeom>
            <a:solidFill>
              <a:srgbClr val="FDFEF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06400" cy="17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  <a:r>
                <a:rPr lang="en-US" sz="1539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Loan</a:t>
              </a:r>
            </a:p>
            <a:p>
              <a:pPr algn="ctr">
                <a:lnSpc>
                  <a:spcPts val="1847"/>
                </a:lnSpc>
              </a:pPr>
              <a:r>
                <a:rPr lang="en-US" b="true" sz="153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Query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57997" y="8362765"/>
            <a:ext cx="1543050" cy="663942"/>
            <a:chOff x="0" y="0"/>
            <a:chExt cx="406400" cy="1748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" cy="174865"/>
            </a:xfrm>
            <a:custGeom>
              <a:avLst/>
              <a:gdLst/>
              <a:ahLst/>
              <a:cxnLst/>
              <a:rect r="r" b="b" t="t" l="l"/>
              <a:pathLst>
                <a:path h="174865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74865"/>
                  </a:lnTo>
                  <a:lnTo>
                    <a:pt x="0" y="174865"/>
                  </a:lnTo>
                  <a:close/>
                </a:path>
              </a:pathLst>
            </a:custGeom>
            <a:solidFill>
              <a:srgbClr val="FDFEF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06400" cy="17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  <a:r>
                <a:rPr lang="en-US" sz="1539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Repayment</a:t>
              </a:r>
            </a:p>
            <a:p>
              <a:pPr algn="ctr">
                <a:lnSpc>
                  <a:spcPts val="1847"/>
                </a:lnSpc>
              </a:pPr>
              <a:r>
                <a:rPr lang="en-US" b="true" sz="153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Issue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249260" y="8565879"/>
            <a:ext cx="1722879" cy="663942"/>
            <a:chOff x="0" y="0"/>
            <a:chExt cx="453762" cy="1748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3762" cy="174865"/>
            </a:xfrm>
            <a:custGeom>
              <a:avLst/>
              <a:gdLst/>
              <a:ahLst/>
              <a:cxnLst/>
              <a:rect r="r" b="b" t="t" l="l"/>
              <a:pathLst>
                <a:path h="174865" w="453762">
                  <a:moveTo>
                    <a:pt x="0" y="0"/>
                  </a:moveTo>
                  <a:lnTo>
                    <a:pt x="453762" y="0"/>
                  </a:lnTo>
                  <a:lnTo>
                    <a:pt x="453762" y="174865"/>
                  </a:lnTo>
                  <a:lnTo>
                    <a:pt x="0" y="174865"/>
                  </a:lnTo>
                  <a:close/>
                </a:path>
              </a:pathLst>
            </a:custGeom>
            <a:solidFill>
              <a:srgbClr val="FDFEF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53762" cy="17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  <a:r>
                <a:rPr lang="en-US" sz="1539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Payment</a:t>
              </a:r>
            </a:p>
            <a:p>
              <a:pPr algn="ctr">
                <a:lnSpc>
                  <a:spcPts val="1847"/>
                </a:lnSpc>
              </a:pPr>
              <a:r>
                <a:rPr lang="en-US" b="true" sz="153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Status Complaint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920498" y="1964584"/>
            <a:ext cx="1722879" cy="663942"/>
            <a:chOff x="0" y="0"/>
            <a:chExt cx="453762" cy="1748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3762" cy="174865"/>
            </a:xfrm>
            <a:custGeom>
              <a:avLst/>
              <a:gdLst/>
              <a:ahLst/>
              <a:cxnLst/>
              <a:rect r="r" b="b" t="t" l="l"/>
              <a:pathLst>
                <a:path h="174865" w="453762">
                  <a:moveTo>
                    <a:pt x="0" y="0"/>
                  </a:moveTo>
                  <a:lnTo>
                    <a:pt x="453762" y="0"/>
                  </a:lnTo>
                  <a:lnTo>
                    <a:pt x="453762" y="174865"/>
                  </a:lnTo>
                  <a:lnTo>
                    <a:pt x="0" y="174865"/>
                  </a:lnTo>
                  <a:close/>
                </a:path>
              </a:pathLst>
            </a:custGeom>
            <a:solidFill>
              <a:srgbClr val="FDFEF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53762" cy="17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  <a:r>
                <a:rPr lang="en-US" b="true" sz="153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Frustrations &amp; Suspicions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31736" y="3984575"/>
            <a:ext cx="1722879" cy="663942"/>
            <a:chOff x="0" y="0"/>
            <a:chExt cx="453762" cy="1748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3762" cy="174865"/>
            </a:xfrm>
            <a:custGeom>
              <a:avLst/>
              <a:gdLst/>
              <a:ahLst/>
              <a:cxnLst/>
              <a:rect r="r" b="b" t="t" l="l"/>
              <a:pathLst>
                <a:path h="174865" w="453762">
                  <a:moveTo>
                    <a:pt x="0" y="0"/>
                  </a:moveTo>
                  <a:lnTo>
                    <a:pt x="453762" y="0"/>
                  </a:lnTo>
                  <a:lnTo>
                    <a:pt x="453762" y="174865"/>
                  </a:lnTo>
                  <a:lnTo>
                    <a:pt x="0" y="174865"/>
                  </a:lnTo>
                  <a:close/>
                </a:path>
              </a:pathLst>
            </a:custGeom>
            <a:solidFill>
              <a:srgbClr val="FDFEF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53762" cy="17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  <a:r>
                <a:rPr lang="en-US" b="true" sz="153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Confusion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310687" y="6008173"/>
            <a:ext cx="1722879" cy="663942"/>
            <a:chOff x="0" y="0"/>
            <a:chExt cx="453762" cy="1748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3762" cy="174865"/>
            </a:xfrm>
            <a:custGeom>
              <a:avLst/>
              <a:gdLst/>
              <a:ahLst/>
              <a:cxnLst/>
              <a:rect r="r" b="b" t="t" l="l"/>
              <a:pathLst>
                <a:path h="174865" w="453762">
                  <a:moveTo>
                    <a:pt x="0" y="0"/>
                  </a:moveTo>
                  <a:lnTo>
                    <a:pt x="453762" y="0"/>
                  </a:lnTo>
                  <a:lnTo>
                    <a:pt x="453762" y="174865"/>
                  </a:lnTo>
                  <a:lnTo>
                    <a:pt x="0" y="174865"/>
                  </a:lnTo>
                  <a:close/>
                </a:path>
              </a:pathLst>
            </a:custGeom>
            <a:solidFill>
              <a:srgbClr val="06203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53762" cy="17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  <a:r>
                <a:rPr lang="en-US" b="true" sz="153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Payment Reminder Mail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367288" y="3998915"/>
            <a:ext cx="1722879" cy="663942"/>
            <a:chOff x="0" y="0"/>
            <a:chExt cx="453762" cy="17486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3762" cy="174865"/>
            </a:xfrm>
            <a:custGeom>
              <a:avLst/>
              <a:gdLst/>
              <a:ahLst/>
              <a:cxnLst/>
              <a:rect r="r" b="b" t="t" l="l"/>
              <a:pathLst>
                <a:path h="174865" w="453762">
                  <a:moveTo>
                    <a:pt x="0" y="0"/>
                  </a:moveTo>
                  <a:lnTo>
                    <a:pt x="453762" y="0"/>
                  </a:lnTo>
                  <a:lnTo>
                    <a:pt x="453762" y="174865"/>
                  </a:lnTo>
                  <a:lnTo>
                    <a:pt x="0" y="174865"/>
                  </a:lnTo>
                  <a:close/>
                </a:path>
              </a:pathLst>
            </a:custGeom>
            <a:solidFill>
              <a:srgbClr val="FDFEFE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53762" cy="17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7"/>
                </a:lnSpc>
              </a:pPr>
              <a:r>
                <a:rPr lang="en-US" sz="1539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Complaint and</a:t>
              </a:r>
            </a:p>
            <a:p>
              <a:pPr algn="ctr">
                <a:lnSpc>
                  <a:spcPts val="1847"/>
                </a:lnSpc>
              </a:pPr>
              <a:r>
                <a:rPr lang="en-US" b="true" sz="153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Dissatisfaction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3178879" y="5274748"/>
            <a:ext cx="4969974" cy="2385587"/>
          </a:xfrm>
          <a:custGeom>
            <a:avLst/>
            <a:gdLst/>
            <a:ahLst/>
            <a:cxnLst/>
            <a:rect r="r" b="b" t="t" l="l"/>
            <a:pathLst>
              <a:path h="2385587" w="4969974">
                <a:moveTo>
                  <a:pt x="0" y="0"/>
                </a:moveTo>
                <a:lnTo>
                  <a:pt x="4969973" y="0"/>
                </a:lnTo>
                <a:lnTo>
                  <a:pt x="4969973" y="2385587"/>
                </a:lnTo>
                <a:lnTo>
                  <a:pt x="0" y="23855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6315096" y="6292519"/>
            <a:ext cx="4389341" cy="79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3"/>
              </a:lnSpc>
            </a:pPr>
            <a:r>
              <a:rPr lang="en-US" sz="4986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ScreenShots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1533" y="-91457"/>
            <a:ext cx="884023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Appendix - 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069431" y="1723514"/>
            <a:ext cx="1884832" cy="1707436"/>
          </a:xfrm>
          <a:custGeom>
            <a:avLst/>
            <a:gdLst/>
            <a:ahLst/>
            <a:cxnLst/>
            <a:rect r="r" b="b" t="t" l="l"/>
            <a:pathLst>
              <a:path h="1707436" w="1884832">
                <a:moveTo>
                  <a:pt x="0" y="0"/>
                </a:moveTo>
                <a:lnTo>
                  <a:pt x="1884832" y="0"/>
                </a:lnTo>
                <a:lnTo>
                  <a:pt x="1884832" y="1707436"/>
                </a:lnTo>
                <a:lnTo>
                  <a:pt x="0" y="1707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93540" y="1390441"/>
            <a:ext cx="4559126" cy="2564509"/>
          </a:xfrm>
          <a:custGeom>
            <a:avLst/>
            <a:gdLst/>
            <a:ahLst/>
            <a:cxnLst/>
            <a:rect r="r" b="b" t="t" l="l"/>
            <a:pathLst>
              <a:path h="2564509" w="4559126">
                <a:moveTo>
                  <a:pt x="0" y="0"/>
                </a:moveTo>
                <a:lnTo>
                  <a:pt x="4559127" y="0"/>
                </a:lnTo>
                <a:lnTo>
                  <a:pt x="4559127" y="2564508"/>
                </a:lnTo>
                <a:lnTo>
                  <a:pt x="0" y="2564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69431" y="7932100"/>
            <a:ext cx="1884832" cy="1498402"/>
          </a:xfrm>
          <a:custGeom>
            <a:avLst/>
            <a:gdLst/>
            <a:ahLst/>
            <a:cxnLst/>
            <a:rect r="r" b="b" t="t" l="l"/>
            <a:pathLst>
              <a:path h="1498402" w="1884832">
                <a:moveTo>
                  <a:pt x="0" y="0"/>
                </a:moveTo>
                <a:lnTo>
                  <a:pt x="1884832" y="0"/>
                </a:lnTo>
                <a:lnTo>
                  <a:pt x="1884832" y="1498402"/>
                </a:lnTo>
                <a:lnTo>
                  <a:pt x="0" y="14984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66978" y="7407800"/>
            <a:ext cx="4536391" cy="2495015"/>
          </a:xfrm>
          <a:custGeom>
            <a:avLst/>
            <a:gdLst/>
            <a:ahLst/>
            <a:cxnLst/>
            <a:rect r="r" b="b" t="t" l="l"/>
            <a:pathLst>
              <a:path h="2495015" w="4536391">
                <a:moveTo>
                  <a:pt x="0" y="0"/>
                </a:moveTo>
                <a:lnTo>
                  <a:pt x="4536391" y="0"/>
                </a:lnTo>
                <a:lnTo>
                  <a:pt x="4536391" y="2495015"/>
                </a:lnTo>
                <a:lnTo>
                  <a:pt x="0" y="24950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69431" y="4304505"/>
            <a:ext cx="1884832" cy="2680910"/>
          </a:xfrm>
          <a:custGeom>
            <a:avLst/>
            <a:gdLst/>
            <a:ahLst/>
            <a:cxnLst/>
            <a:rect r="r" b="b" t="t" l="l"/>
            <a:pathLst>
              <a:path h="2680910" w="1884832">
                <a:moveTo>
                  <a:pt x="0" y="0"/>
                </a:moveTo>
                <a:lnTo>
                  <a:pt x="1884832" y="0"/>
                </a:lnTo>
                <a:lnTo>
                  <a:pt x="1884832" y="2680910"/>
                </a:lnTo>
                <a:lnTo>
                  <a:pt x="0" y="26809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183364" y="4355550"/>
            <a:ext cx="4469303" cy="2636062"/>
          </a:xfrm>
          <a:custGeom>
            <a:avLst/>
            <a:gdLst/>
            <a:ahLst/>
            <a:cxnLst/>
            <a:rect r="r" b="b" t="t" l="l"/>
            <a:pathLst>
              <a:path h="2636062" w="4469303">
                <a:moveTo>
                  <a:pt x="0" y="0"/>
                </a:moveTo>
                <a:lnTo>
                  <a:pt x="4469303" y="0"/>
                </a:lnTo>
                <a:lnTo>
                  <a:pt x="4469303" y="2636062"/>
                </a:lnTo>
                <a:lnTo>
                  <a:pt x="0" y="26360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94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013294" y="4355550"/>
            <a:ext cx="1913135" cy="2652749"/>
          </a:xfrm>
          <a:custGeom>
            <a:avLst/>
            <a:gdLst/>
            <a:ahLst/>
            <a:cxnLst/>
            <a:rect r="r" b="b" t="t" l="l"/>
            <a:pathLst>
              <a:path h="2652749" w="1913135">
                <a:moveTo>
                  <a:pt x="0" y="0"/>
                </a:moveTo>
                <a:lnTo>
                  <a:pt x="1913134" y="0"/>
                </a:lnTo>
                <a:lnTo>
                  <a:pt x="1913134" y="2652748"/>
                </a:lnTo>
                <a:lnTo>
                  <a:pt x="0" y="2652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25572" y="4304505"/>
            <a:ext cx="4699084" cy="2754838"/>
          </a:xfrm>
          <a:custGeom>
            <a:avLst/>
            <a:gdLst/>
            <a:ahLst/>
            <a:cxnLst/>
            <a:rect r="r" b="b" t="t" l="l"/>
            <a:pathLst>
              <a:path h="2754838" w="4699084">
                <a:moveTo>
                  <a:pt x="0" y="0"/>
                </a:moveTo>
                <a:lnTo>
                  <a:pt x="4699084" y="0"/>
                </a:lnTo>
                <a:lnTo>
                  <a:pt x="4699084" y="2754838"/>
                </a:lnTo>
                <a:lnTo>
                  <a:pt x="0" y="27548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13294" y="7628420"/>
            <a:ext cx="2088018" cy="1775206"/>
          </a:xfrm>
          <a:custGeom>
            <a:avLst/>
            <a:gdLst/>
            <a:ahLst/>
            <a:cxnLst/>
            <a:rect r="r" b="b" t="t" l="l"/>
            <a:pathLst>
              <a:path h="1775206" w="2088018">
                <a:moveTo>
                  <a:pt x="0" y="0"/>
                </a:moveTo>
                <a:lnTo>
                  <a:pt x="2088017" y="0"/>
                </a:lnTo>
                <a:lnTo>
                  <a:pt x="2088017" y="1775206"/>
                </a:lnTo>
                <a:lnTo>
                  <a:pt x="0" y="17752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259803" y="7407800"/>
            <a:ext cx="4334050" cy="2589595"/>
          </a:xfrm>
          <a:custGeom>
            <a:avLst/>
            <a:gdLst/>
            <a:ahLst/>
            <a:cxnLst/>
            <a:rect r="r" b="b" t="t" l="l"/>
            <a:pathLst>
              <a:path h="2589595" w="4334050">
                <a:moveTo>
                  <a:pt x="0" y="0"/>
                </a:moveTo>
                <a:lnTo>
                  <a:pt x="4334051" y="0"/>
                </a:lnTo>
                <a:lnTo>
                  <a:pt x="4334051" y="2589595"/>
                </a:lnTo>
                <a:lnTo>
                  <a:pt x="0" y="25895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013294" y="1618597"/>
            <a:ext cx="1781501" cy="1846452"/>
          </a:xfrm>
          <a:custGeom>
            <a:avLst/>
            <a:gdLst/>
            <a:ahLst/>
            <a:cxnLst/>
            <a:rect r="r" b="b" t="t" l="l"/>
            <a:pathLst>
              <a:path h="1846452" w="1781501">
                <a:moveTo>
                  <a:pt x="0" y="0"/>
                </a:moveTo>
                <a:lnTo>
                  <a:pt x="1781501" y="0"/>
                </a:lnTo>
                <a:lnTo>
                  <a:pt x="1781501" y="1846452"/>
                </a:lnTo>
                <a:lnTo>
                  <a:pt x="0" y="18464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03170" y="1340731"/>
            <a:ext cx="4543888" cy="2680894"/>
          </a:xfrm>
          <a:custGeom>
            <a:avLst/>
            <a:gdLst/>
            <a:ahLst/>
            <a:cxnLst/>
            <a:rect r="r" b="b" t="t" l="l"/>
            <a:pathLst>
              <a:path h="2680894" w="4543888">
                <a:moveTo>
                  <a:pt x="0" y="0"/>
                </a:moveTo>
                <a:lnTo>
                  <a:pt x="4543888" y="0"/>
                </a:lnTo>
                <a:lnTo>
                  <a:pt x="4543888" y="2680893"/>
                </a:lnTo>
                <a:lnTo>
                  <a:pt x="0" y="268089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88340" y="3482331"/>
            <a:ext cx="1727681" cy="5966897"/>
          </a:xfrm>
          <a:custGeom>
            <a:avLst/>
            <a:gdLst/>
            <a:ahLst/>
            <a:cxnLst/>
            <a:rect r="r" b="b" t="t" l="l"/>
            <a:pathLst>
              <a:path h="5966897" w="1727681">
                <a:moveTo>
                  <a:pt x="0" y="0"/>
                </a:moveTo>
                <a:lnTo>
                  <a:pt x="1727681" y="0"/>
                </a:lnTo>
                <a:lnTo>
                  <a:pt x="1727681" y="5966897"/>
                </a:lnTo>
                <a:lnTo>
                  <a:pt x="0" y="596689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  <a:ln w="9525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303762" y="257175"/>
            <a:ext cx="884023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Appendix - II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8340" y="2509327"/>
            <a:ext cx="245363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Missing Values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340" y="1561589"/>
            <a:ext cx="245363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Shape of Dataset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8340" y="1875914"/>
            <a:ext cx="245363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(2000, 19)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8340" y="2834631"/>
            <a:ext cx="245363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No Null Values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86431" y="769949"/>
            <a:ext cx="453338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Analysis Category Distributions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03762" y="1584740"/>
            <a:ext cx="6099364" cy="7239601"/>
          </a:xfrm>
          <a:custGeom>
            <a:avLst/>
            <a:gdLst/>
            <a:ahLst/>
            <a:cxnLst/>
            <a:rect r="r" b="b" t="t" l="l"/>
            <a:pathLst>
              <a:path h="7239601" w="6099364">
                <a:moveTo>
                  <a:pt x="0" y="0"/>
                </a:moveTo>
                <a:lnTo>
                  <a:pt x="6099365" y="0"/>
                </a:lnTo>
                <a:lnTo>
                  <a:pt x="6099365" y="7239602"/>
                </a:lnTo>
                <a:lnTo>
                  <a:pt x="0" y="7239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3762" y="257175"/>
            <a:ext cx="884023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Appendix - III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7840" y="1157068"/>
            <a:ext cx="160769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799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SHAP Values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5498" y="2081779"/>
            <a:ext cx="9443802" cy="584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Analysis Notebook  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5" tooltip="https://colab.research.google.com/drive/1_ohfA5glyt3fjs12JDfENpfPPwEzz_Hq?usp=sharing"/>
              </a:rPr>
              <a:t>Collab</a:t>
            </a: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|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6" tooltip="https://drive.google.com/file/d/1QrF41Z5U6qLU8wWlwX9vMvMDaj3HbhhA/view?usp=sharing"/>
              </a:rPr>
              <a:t>Drive</a:t>
            </a: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Prediction Model Notebook  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7" tooltip="https://colab.research.google.com/drive/1D1hFcoPUDatFTQv04SDvKtGLHq6fuJst?usp=sharing"/>
              </a:rPr>
              <a:t>Collab</a:t>
            </a: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|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8" tooltip="https://drive.google.com/file/d/1zNC4pgaVzHuuAP42GSggm-HLMnB0k_mp/view?usp=sharing"/>
              </a:rPr>
              <a:t>Drive</a:t>
            </a: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 Model Notebook  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9" tooltip="https://colab.research.google.com/drive/1U8WJkHvwYCZyz_nIFXXyn9TDxDv5T9Kt?usp=sharing"/>
              </a:rPr>
              <a:t>Collab</a:t>
            </a: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|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10" tooltip="https://drive.google.com/file/d/1i5vDuKRtrtR60z9Iwwn8IIhgePD3fco1/view?usp=sharing"/>
              </a:rPr>
              <a:t>Drive 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Chatbot (Sahayak) n8n workflow 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11" tooltip="https://drive.google.com/file/d/1WlRxz9--JzXoeR1et4RaeMStFkscK5jG/view?usp=sharing"/>
              </a:rPr>
              <a:t>Drive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Description of Building the Chatbot   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12" tooltip="https://docs.google.com/document/d/13q1XKAqUZ8odPWnOWKXa9FeMVIzKT3dwcJ5-BL5Na1w/edit?usp=sharing"/>
              </a:rPr>
              <a:t>Doc</a:t>
            </a: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Prediction with risk scores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13" tooltip="https://docs.google.com/spreadsheets/d/17zc1bA0GGIWNJ2a8JZ1q5XeDmPozViwoOR82efMcybY/edit?usp=sharing"/>
              </a:rPr>
              <a:t>Link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Ideations 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14" tooltip="https://drive.google.com/file/d/1ifhWdUw7wzjZ-DiVKVX3PqCmXi9fn14y/view?usp=sharing"/>
              </a:rPr>
              <a:t>Link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</a:rPr>
              <a:t>Recommmendation Strategy  Output   </a:t>
            </a:r>
            <a:r>
              <a:rPr lang="en-US" sz="2400" u="sng">
                <a:solidFill>
                  <a:srgbClr val="124977"/>
                </a:solidFill>
                <a:latin typeface="Proxima Nova"/>
                <a:ea typeface="Proxima Nova"/>
                <a:cs typeface="Proxima Nova"/>
                <a:sym typeface="Proxima Nova"/>
                <a:hlinkClick r:id="rId15" tooltip="https://docs.google.com/spreadsheets/d/1TSr83Cuj7RvJLhtjiDf6iC_JqJC3fMDeJ5RxSEJq0I4/edit?usp=sharing"/>
              </a:rPr>
              <a:t>Link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03186" y="1450755"/>
            <a:ext cx="1607692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true">
                <a:solidFill>
                  <a:srgbClr val="1249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Links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A green and white grid  AI-generated content may be incorrect.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" t="0" r="-4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2568" y="139146"/>
            <a:ext cx="2256285" cy="860979"/>
            <a:chOff x="0" y="0"/>
            <a:chExt cx="3008380" cy="1147972"/>
          </a:xfrm>
        </p:grpSpPr>
        <p:sp>
          <p:nvSpPr>
            <p:cNvPr name="Freeform 5" id="5" descr="A black background with blue and green text  AI-generated content may be incorrect."/>
            <p:cNvSpPr/>
            <p:nvPr/>
          </p:nvSpPr>
          <p:spPr>
            <a:xfrm flipH="false" flipV="false" rot="0">
              <a:off x="0" y="0"/>
              <a:ext cx="3008376" cy="1147953"/>
            </a:xfrm>
            <a:custGeom>
              <a:avLst/>
              <a:gdLst/>
              <a:ahLst/>
              <a:cxnLst/>
              <a:rect r="r" b="b" t="t" l="l"/>
              <a:pathLst>
                <a:path h="1147953" w="3008376">
                  <a:moveTo>
                    <a:pt x="0" y="0"/>
                  </a:moveTo>
                  <a:lnTo>
                    <a:pt x="3008376" y="0"/>
                  </a:lnTo>
                  <a:lnTo>
                    <a:pt x="3008376" y="1147953"/>
                  </a:lnTo>
                  <a:lnTo>
                    <a:pt x="0" y="1147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" r="0" b="-8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723881" y="5338857"/>
            <a:ext cx="884023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>
                <a:solidFill>
                  <a:srgbClr val="06203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315346" y="3328639"/>
            <a:ext cx="5657308" cy="1591118"/>
          </a:xfrm>
          <a:custGeom>
            <a:avLst/>
            <a:gdLst/>
            <a:ahLst/>
            <a:cxnLst/>
            <a:rect r="r" b="b" t="t" l="l"/>
            <a:pathLst>
              <a:path h="1591118" w="5657308">
                <a:moveTo>
                  <a:pt x="0" y="0"/>
                </a:moveTo>
                <a:lnTo>
                  <a:pt x="5657308" y="0"/>
                </a:lnTo>
                <a:lnTo>
                  <a:pt x="5657308" y="1591118"/>
                </a:lnTo>
                <a:lnTo>
                  <a:pt x="0" y="1591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DAGxb8DUC5E</dc:identifier>
  <dcterms:modified xsi:type="dcterms:W3CDTF">2011-08-01T06:04:30Z</dcterms:modified>
  <cp:revision>1</cp:revision>
  <dc:title>EPIC 7 _ PPT Template.pptx</dc:title>
</cp:coreProperties>
</file>